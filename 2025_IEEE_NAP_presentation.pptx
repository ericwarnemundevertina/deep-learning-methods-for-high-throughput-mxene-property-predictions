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7" r:id="rId2"/>
  </p:sldMasterIdLst>
  <p:notesMasterIdLst>
    <p:notesMasterId r:id="rId46"/>
  </p:notesMasterIdLst>
  <p:handoutMasterIdLst>
    <p:handoutMasterId r:id="rId47"/>
  </p:handoutMasterIdLst>
  <p:sldIdLst>
    <p:sldId id="302" r:id="rId3"/>
    <p:sldId id="933" r:id="rId4"/>
    <p:sldId id="945" r:id="rId5"/>
    <p:sldId id="942" r:id="rId6"/>
    <p:sldId id="943" r:id="rId7"/>
    <p:sldId id="944" r:id="rId8"/>
    <p:sldId id="928" r:id="rId9"/>
    <p:sldId id="946" r:id="rId10"/>
    <p:sldId id="947" r:id="rId11"/>
    <p:sldId id="948" r:id="rId12"/>
    <p:sldId id="949" r:id="rId13"/>
    <p:sldId id="951" r:id="rId14"/>
    <p:sldId id="917" r:id="rId15"/>
    <p:sldId id="940" r:id="rId16"/>
    <p:sldId id="941" r:id="rId17"/>
    <p:sldId id="542" r:id="rId18"/>
    <p:sldId id="755" r:id="rId19"/>
    <p:sldId id="926" r:id="rId20"/>
    <p:sldId id="743" r:id="rId21"/>
    <p:sldId id="744" r:id="rId22"/>
    <p:sldId id="730" r:id="rId23"/>
    <p:sldId id="842" r:id="rId24"/>
    <p:sldId id="844" r:id="rId25"/>
    <p:sldId id="751" r:id="rId26"/>
    <p:sldId id="830" r:id="rId27"/>
    <p:sldId id="831" r:id="rId28"/>
    <p:sldId id="919" r:id="rId29"/>
    <p:sldId id="934" r:id="rId30"/>
    <p:sldId id="953" r:id="rId31"/>
    <p:sldId id="918" r:id="rId32"/>
    <p:sldId id="920" r:id="rId33"/>
    <p:sldId id="921" r:id="rId34"/>
    <p:sldId id="935" r:id="rId35"/>
    <p:sldId id="937" r:id="rId36"/>
    <p:sldId id="938" r:id="rId37"/>
    <p:sldId id="939" r:id="rId38"/>
    <p:sldId id="930" r:id="rId39"/>
    <p:sldId id="380" r:id="rId40"/>
    <p:sldId id="502" r:id="rId41"/>
    <p:sldId id="309" r:id="rId42"/>
    <p:sldId id="802" r:id="rId43"/>
    <p:sldId id="803" r:id="rId44"/>
    <p:sldId id="749" r:id="rId45"/>
  </p:sldIdLst>
  <p:sldSz cx="12192000" cy="6858000"/>
  <p:notesSz cx="6858000" cy="9144000"/>
  <p:custDataLst>
    <p:tags r:id="rId4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20" userDrawn="1">
          <p15:clr>
            <a:srgbClr val="A4A3A4"/>
          </p15:clr>
        </p15:guide>
        <p15:guide id="2" orient="horz" pos="960" userDrawn="1">
          <p15:clr>
            <a:srgbClr val="A4A3A4"/>
          </p15:clr>
        </p15:guide>
        <p15:guide id="3" orient="horz" pos="3888" userDrawn="1">
          <p15:clr>
            <a:srgbClr val="A4A3A4"/>
          </p15:clr>
        </p15:guide>
        <p15:guide id="4" pos="456" userDrawn="1">
          <p15:clr>
            <a:srgbClr val="A4A3A4"/>
          </p15:clr>
        </p15:guide>
        <p15:guide id="5" pos="72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CD95"/>
    <a:srgbClr val="46A0DC"/>
    <a:srgbClr val="B7A079"/>
    <a:srgbClr val="2C6A8C"/>
    <a:srgbClr val="000000"/>
    <a:srgbClr val="FFFFFF"/>
    <a:srgbClr val="6D6D6D"/>
    <a:srgbClr val="AB192D"/>
    <a:srgbClr val="C4122F"/>
    <a:srgbClr val="B2B7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78" autoAdjust="0"/>
    <p:restoredTop sz="95033" autoAdjust="0"/>
  </p:normalViewPr>
  <p:slideViewPr>
    <p:cSldViewPr snapToGrid="0" showGuides="1">
      <p:cViewPr varScale="1">
        <p:scale>
          <a:sx n="75" d="100"/>
          <a:sy n="75" d="100"/>
        </p:scale>
        <p:origin x="600" y="53"/>
      </p:cViewPr>
      <p:guideLst>
        <p:guide orient="horz" pos="720"/>
        <p:guide orient="horz" pos="960"/>
        <p:guide orient="horz" pos="3888"/>
        <p:guide pos="456"/>
        <p:guide pos="729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8" d="100"/>
          <a:sy n="88" d="100"/>
        </p:scale>
        <p:origin x="2964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gs" Target="tags/tag1.xml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49CD-19C8-44C0-A36B-1667EDB1312B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C7A2D6-6A74-4789-8A27-67CDFFE8E46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079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4C511E-AA3B-43E3-B946-406AB5E4C4BB}" type="datetimeFigureOut">
              <a:rPr lang="en-US" smtClean="0"/>
              <a:pPr/>
              <a:t>9/9/2025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E4A049-8685-4352-9DC2-828F08FD54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259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A09BFF-9304-4EE8-967B-56F816FBB8C1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869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a list of material properties that I came up with after extensive discussions with project team members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4A049-8685-4352-9DC2-828F08FD542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3708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9AFB1-3BF1-7FA8-824B-BFC176C82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A59C23-9A24-E46C-5868-E3515B6BF9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5DD0EE-B0A1-16A0-E8B7-3F57B1FA4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a list of material properties that I came up with after extensive discussions with project team members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F6BD7-B42C-9557-D970-A8E3BC8E16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4A049-8685-4352-9DC2-828F08FD542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5898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27E1D-246F-0D11-F136-B5F828041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04863E-1563-8ADC-054B-DE52F3A4D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127D7F-9B74-7E90-F0A2-26AE6BE801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a list of material properties that I came up with after extensive discussions with project team members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DC026-5651-B1D3-CC42-B71F64EF2F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4A049-8685-4352-9DC2-828F08FD542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82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4A049-8685-4352-9DC2-828F08FD542B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556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4A049-8685-4352-9DC2-828F08FD542B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0122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43436-C295-3022-D818-73093D6CC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774B1D-2454-FC1C-C55C-B0B4868B3C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655E6C-ED0F-3617-7EE0-02A8A5A1E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8B4D1-C63B-F59E-C947-FDAA0D48FF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4A049-8685-4352-9DC2-828F08FD542B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2172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E7E00-737D-2057-C711-4C0637870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DAA3F3-F260-C5DC-4E74-7DDE96750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060A1E-762A-515B-D634-0BC9A5A5A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528985-DC93-CAAB-D2F7-673B5A913E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4A049-8685-4352-9DC2-828F08FD542B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6891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4C7AA-6AD7-45E9-1EA7-AE17B48B0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4B8DA0-ED87-7730-F903-479F0B4D84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9BAB9F-114C-29A4-84AC-912B293E4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E4BDD-CD1C-4946-CA94-232CBAF31D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4A049-8685-4352-9DC2-828F08FD542B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3491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B6246-0518-5F95-E058-FB8598742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205BC1-C84E-9562-DB82-571B64BD7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B412C5-DE1F-BAE8-3438-02DC8436A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6DFAE-928B-20E1-37E2-DBA5E04BE2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4A049-8685-4352-9DC2-828F08FD542B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1292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to: https://wp.wpi.edu/cedar/project-accelerating-discovery-and-characterization-of-functional-2d-materials-for-catalysis-and-solar-energy-conversion-using-data-science-methods/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4A049-8685-4352-9DC2-828F08FD542B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41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that Emily and Prof. Deskins were coauthors for the conference paper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4A049-8685-4352-9DC2-828F08FD542B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929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eyWatermark-20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949092" y="2703302"/>
            <a:ext cx="4242908" cy="4154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0" y="2537925"/>
            <a:ext cx="9144000" cy="1524001"/>
          </a:xfrm>
        </p:spPr>
        <p:txBody>
          <a:bodyPr>
            <a:noAutofit/>
          </a:bodyPr>
          <a:lstStyle>
            <a:lvl1pPr>
              <a:defRPr sz="4000" b="1"/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293573"/>
            <a:ext cx="9144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3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990601"/>
            <a:ext cx="3383438" cy="10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2">
    <p:bg>
      <p:bgPr>
        <a:solidFill>
          <a:srgbClr val="AB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990601"/>
            <a:ext cx="3383438" cy="110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182" y="2693986"/>
            <a:ext cx="4260818" cy="417223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609600" y="2537925"/>
            <a:ext cx="9144000" cy="1524001"/>
          </a:xfrm>
        </p:spPr>
        <p:txBody>
          <a:bodyPr>
            <a:no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609600" y="4293573"/>
            <a:ext cx="9144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63066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215900" dist="76200" dir="54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475" y="1447800"/>
            <a:ext cx="9144000" cy="1676400"/>
          </a:xfrm>
        </p:spPr>
        <p:txBody>
          <a:bodyPr anchor="b" anchorCtr="0"/>
          <a:lstStyle>
            <a:lvl1pPr algn="l">
              <a:defRPr lang="en-US" sz="40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5475" y="3124200"/>
            <a:ext cx="9144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25475" y="6400800"/>
            <a:ext cx="6807200" cy="304800"/>
          </a:xfrm>
          <a:prstGeom prst="rect">
            <a:avLst/>
          </a:prstGeom>
        </p:spPr>
        <p:txBody>
          <a:bodyPr/>
          <a:lstStyle>
            <a:lvl1pPr>
              <a:defRPr sz="1600" b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8" name="Picture 7" descr="greyWatermark-20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949092" y="2703302"/>
            <a:ext cx="4242908" cy="4154698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en-US" noProof="1"/>
              <a:t>Click to edit Master title style</a:t>
            </a:r>
            <a:endParaRPr lang="en-US" dirty="0"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US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709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0" y="1676400"/>
            <a:ext cx="4876800" cy="4495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6400"/>
            <a:ext cx="4876800" cy="4495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19"/>
          <p:cNvSpPr>
            <a:spLocks noGrp="1"/>
          </p:cNvSpPr>
          <p:nvPr>
            <p:ph type="ftr" sz="quarter" idx="11"/>
          </p:nvPr>
        </p:nvSpPr>
        <p:spPr>
          <a:xfrm>
            <a:off x="609600" y="6400800"/>
            <a:ext cx="6807200" cy="304800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0" y="1496736"/>
            <a:ext cx="487680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6000" y="2216400"/>
            <a:ext cx="4876800" cy="3955800"/>
          </a:xfrm>
        </p:spPr>
        <p:txBody>
          <a:bodyPr anchor="t" anchorCtr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1496736"/>
            <a:ext cx="487680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2216400"/>
            <a:ext cx="4876800" cy="3955800"/>
          </a:xfrm>
        </p:spPr>
        <p:txBody>
          <a:bodyPr anchor="t" anchorCtr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19"/>
          <p:cNvSpPr>
            <a:spLocks noGrp="1"/>
          </p:cNvSpPr>
          <p:nvPr>
            <p:ph type="ftr" sz="quarter" idx="11"/>
          </p:nvPr>
        </p:nvSpPr>
        <p:spPr>
          <a:xfrm>
            <a:off x="609600" y="6400800"/>
            <a:ext cx="6807200" cy="304800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19"/>
          <p:cNvSpPr>
            <a:spLocks noGrp="1"/>
          </p:cNvSpPr>
          <p:nvPr>
            <p:ph type="ftr" sz="quarter" idx="11"/>
          </p:nvPr>
        </p:nvSpPr>
        <p:spPr>
          <a:xfrm>
            <a:off x="609600" y="6400800"/>
            <a:ext cx="6807200" cy="304800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" y="6391657"/>
            <a:ext cx="612396" cy="365125"/>
          </a:xfrm>
        </p:spPr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19"/>
          <p:cNvSpPr>
            <a:spLocks noGrp="1"/>
          </p:cNvSpPr>
          <p:nvPr>
            <p:ph type="ftr" sz="quarter" idx="11"/>
          </p:nvPr>
        </p:nvSpPr>
        <p:spPr>
          <a:xfrm>
            <a:off x="609600" y="6400800"/>
            <a:ext cx="6807200" cy="304800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1074400" cy="1066800"/>
          </a:xfrm>
        </p:spPr>
        <p:txBody>
          <a:bodyPr anchor="b">
            <a:normAutofit/>
          </a:bodyPr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3709" y="1524001"/>
            <a:ext cx="7058691" cy="46481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1890" y="1524000"/>
            <a:ext cx="3564876" cy="46482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2447147" y="3581135"/>
            <a:ext cx="3810000" cy="2117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19"/>
          <p:cNvSpPr>
            <a:spLocks noGrp="1"/>
          </p:cNvSpPr>
          <p:nvPr>
            <p:ph type="ftr" sz="quarter" idx="11"/>
          </p:nvPr>
        </p:nvSpPr>
        <p:spPr>
          <a:xfrm>
            <a:off x="609600" y="6400800"/>
            <a:ext cx="6807200" cy="3048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338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09600" y="1524000"/>
            <a:ext cx="7823200" cy="4648200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8737600" y="1524000"/>
            <a:ext cx="2844800" cy="4648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493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Re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131" y="1066834"/>
            <a:ext cx="4459738" cy="442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2590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609600" y="2286000"/>
            <a:ext cx="9144000" cy="1524000"/>
          </a:xfrm>
        </p:spPr>
        <p:txBody>
          <a:bodyPr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609600" y="4041648"/>
            <a:ext cx="9144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2" name="Picture 4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990601"/>
            <a:ext cx="3383438" cy="110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182" y="2693986"/>
            <a:ext cx="4260818" cy="417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0641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609600" y="2286000"/>
            <a:ext cx="9144000" cy="1524000"/>
          </a:xfrm>
        </p:spPr>
        <p:txBody>
          <a:bodyPr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609600" y="4041648"/>
            <a:ext cx="9144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Picture 4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990601"/>
            <a:ext cx="3383438" cy="110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182" y="2693986"/>
            <a:ext cx="4260818" cy="417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1596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400800"/>
            <a:ext cx="6807200" cy="304800"/>
          </a:xfrm>
          <a:prstGeom prst="rect">
            <a:avLst/>
          </a:prstGeom>
        </p:spPr>
        <p:txBody>
          <a:bodyPr/>
          <a:lstStyle>
            <a:lvl1pPr>
              <a:defRPr sz="1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09600" y="2286000"/>
            <a:ext cx="9144000" cy="1524000"/>
          </a:xfrm>
        </p:spPr>
        <p:txBody>
          <a:bodyPr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609600" y="4041648"/>
            <a:ext cx="9144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1" name="Picture 4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990601"/>
            <a:ext cx="3383438" cy="110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182" y="2693986"/>
            <a:ext cx="4260818" cy="417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213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en-US" noProof="1"/>
              <a:t>Click to edit Master title style</a:t>
            </a:r>
            <a:endParaRPr lang="en-US" dirty="0"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US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704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0" y="1676400"/>
            <a:ext cx="4876800" cy="4495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6400"/>
            <a:ext cx="4876800" cy="4495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19"/>
          <p:cNvSpPr>
            <a:spLocks noGrp="1"/>
          </p:cNvSpPr>
          <p:nvPr>
            <p:ph type="ftr" sz="quarter" idx="11"/>
          </p:nvPr>
        </p:nvSpPr>
        <p:spPr>
          <a:xfrm>
            <a:off x="609600" y="6400800"/>
            <a:ext cx="6807200" cy="3048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4945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0" y="1496736"/>
            <a:ext cx="487680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6000" y="2216400"/>
            <a:ext cx="4876800" cy="3955800"/>
          </a:xfrm>
        </p:spPr>
        <p:txBody>
          <a:bodyPr anchor="t" anchorCtr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1496736"/>
            <a:ext cx="487680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2216400"/>
            <a:ext cx="4876800" cy="3955800"/>
          </a:xfrm>
        </p:spPr>
        <p:txBody>
          <a:bodyPr anchor="t" anchorCtr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19"/>
          <p:cNvSpPr>
            <a:spLocks noGrp="1"/>
          </p:cNvSpPr>
          <p:nvPr>
            <p:ph type="ftr" sz="quarter" idx="11"/>
          </p:nvPr>
        </p:nvSpPr>
        <p:spPr>
          <a:xfrm>
            <a:off x="609600" y="6400800"/>
            <a:ext cx="6807200" cy="3048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0204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19"/>
          <p:cNvSpPr>
            <a:spLocks noGrp="1"/>
          </p:cNvSpPr>
          <p:nvPr>
            <p:ph type="ftr" sz="quarter" idx="11"/>
          </p:nvPr>
        </p:nvSpPr>
        <p:spPr>
          <a:xfrm>
            <a:off x="609600" y="6400800"/>
            <a:ext cx="6807200" cy="3048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416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-2795" y="6391657"/>
            <a:ext cx="61239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19"/>
          <p:cNvSpPr>
            <a:spLocks noGrp="1"/>
          </p:cNvSpPr>
          <p:nvPr>
            <p:ph type="ftr" sz="quarter" idx="11"/>
          </p:nvPr>
        </p:nvSpPr>
        <p:spPr>
          <a:xfrm>
            <a:off x="609600" y="6400800"/>
            <a:ext cx="6807200" cy="304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062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1074400" cy="1066800"/>
          </a:xfrm>
        </p:spPr>
        <p:txBody>
          <a:bodyPr anchor="b">
            <a:normAutofit/>
          </a:bodyPr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3709" y="1524001"/>
            <a:ext cx="7058691" cy="46481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1890" y="1524000"/>
            <a:ext cx="3564876" cy="46482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2447147" y="3581135"/>
            <a:ext cx="3810000" cy="2117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19"/>
          <p:cNvSpPr>
            <a:spLocks noGrp="1"/>
          </p:cNvSpPr>
          <p:nvPr>
            <p:ph type="ftr" sz="quarter" idx="11"/>
          </p:nvPr>
        </p:nvSpPr>
        <p:spPr>
          <a:xfrm>
            <a:off x="609600" y="6400800"/>
            <a:ext cx="6807200" cy="3048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045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09600" y="1524000"/>
            <a:ext cx="7823200" cy="4648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8737600" y="1524000"/>
            <a:ext cx="2844800" cy="4648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79207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131" y="1066834"/>
            <a:ext cx="4459738" cy="442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187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" y="6387664"/>
            <a:ext cx="609600" cy="3941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09600" y="1234967"/>
            <a:ext cx="115824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315200" y="6400800"/>
            <a:ext cx="44704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Worcester Polytechnic Institute</a:t>
            </a: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400800"/>
            <a:ext cx="6807200" cy="304800"/>
          </a:xfrm>
          <a:prstGeom prst="rect">
            <a:avLst/>
          </a:prstGeom>
        </p:spPr>
        <p:txBody>
          <a:bodyPr/>
          <a:lstStyle>
            <a:lvl1pPr>
              <a:defRPr sz="1600" b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2" r:id="rId2"/>
    <p:sldLayoutId id="2147483663" r:id="rId3"/>
    <p:sldLayoutId id="2147483695" r:id="rId4"/>
    <p:sldLayoutId id="2147483664" r:id="rId5"/>
    <p:sldLayoutId id="2147483665" r:id="rId6"/>
    <p:sldLayoutId id="2147483666" r:id="rId7"/>
    <p:sldLayoutId id="2147483667" r:id="rId8"/>
    <p:sldLayoutId id="2147483683" r:id="rId9"/>
    <p:sldLayoutId id="2147483696" r:id="rId10"/>
    <p:sldLayoutId id="2147483708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>
              <a:lumMod val="85000"/>
              <a:lumOff val="15000"/>
            </a:schemeClr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lnSpc>
          <a:spcPct val="95000"/>
        </a:lnSpc>
        <a:spcBef>
          <a:spcPts val="1200"/>
        </a:spcBef>
        <a:buClr>
          <a:schemeClr val="bg2"/>
        </a:buClr>
        <a:buFont typeface="Arial" pitchFamily="34" charset="0"/>
        <a:buChar char="•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594360" indent="-274320" algn="l" defTabSz="914400" rtl="0" eaLnBrk="1" latinLnBrk="0" hangingPunct="1">
        <a:lnSpc>
          <a:spcPct val="95000"/>
        </a:lnSpc>
        <a:spcBef>
          <a:spcPts val="600"/>
        </a:spcBef>
        <a:buClr>
          <a:schemeClr val="bg2"/>
        </a:buClr>
        <a:buFont typeface="Verdana" pitchFamily="34" charset="0"/>
        <a:buChar char="─"/>
        <a:defRPr sz="20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86868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bg2"/>
        </a:buClr>
        <a:buFont typeface="Wingdings" pitchFamily="2" charset="2"/>
        <a:buChar char="§"/>
        <a:defRPr sz="18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14300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bg2"/>
        </a:buClr>
        <a:buFont typeface="Courier New" pitchFamily="49" charset="0"/>
        <a:buChar char="o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37160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bg2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10972800" cy="8001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" y="6391657"/>
            <a:ext cx="609600" cy="3139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09600" y="1234967"/>
            <a:ext cx="115824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315200" y="6400800"/>
            <a:ext cx="44704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Worcester Polytechnic Institute</a:t>
            </a: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400800"/>
            <a:ext cx="6807200" cy="304800"/>
          </a:xfrm>
          <a:prstGeom prst="rect">
            <a:avLst/>
          </a:prstGeom>
        </p:spPr>
        <p:txBody>
          <a:bodyPr/>
          <a:lstStyle>
            <a:lvl1pPr>
              <a:defRPr sz="1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894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lnSpc>
          <a:spcPct val="95000"/>
        </a:lnSpc>
        <a:spcBef>
          <a:spcPts val="1200"/>
        </a:spcBef>
        <a:buClr>
          <a:schemeClr val="bg2"/>
        </a:buClr>
        <a:buFont typeface="Arial" pitchFamily="34" charset="0"/>
        <a:buChar char="•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594360" indent="-274320" algn="l" defTabSz="914400" rtl="0" eaLnBrk="1" latinLnBrk="0" hangingPunct="1">
        <a:lnSpc>
          <a:spcPct val="95000"/>
        </a:lnSpc>
        <a:spcBef>
          <a:spcPts val="600"/>
        </a:spcBef>
        <a:buClr>
          <a:schemeClr val="bg2"/>
        </a:buClr>
        <a:buFont typeface="Verdana" pitchFamily="34" charset="0"/>
        <a:buChar char="─"/>
        <a:defRPr sz="20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86868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bg2"/>
        </a:buClr>
        <a:buFont typeface="Wingdings" pitchFamily="2" charset="2"/>
        <a:buChar char="§"/>
        <a:defRPr sz="18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14300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bg2"/>
        </a:buClr>
        <a:buFont typeface="Courier New" pitchFamily="49" charset="0"/>
        <a:buChar char="o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37160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bg2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ricWarnemundeVertina/Deep-Learning-Methods-for-High-Throughput-MXene-Property-Predictions" TargetMode="Externa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ricWarnemundeVertina/Deep-Learning-Methods-for-High-Throughput-MXene-Property-Predictions" TargetMode="Externa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109.01116" TargetMode="Externa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09600" y="2537925"/>
            <a:ext cx="9144000" cy="152400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Deep Learning for High-Throughput </a:t>
            </a:r>
            <a:r>
              <a:rPr lang="en-US" dirty="0" err="1"/>
              <a:t>MXene</a:t>
            </a:r>
            <a:r>
              <a:rPr lang="en-US" dirty="0"/>
              <a:t> Property</a:t>
            </a:r>
          </a:p>
          <a:p>
            <a:r>
              <a:rPr lang="en-US" dirty="0"/>
              <a:t>Prediction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609600" y="4293572"/>
            <a:ext cx="10566400" cy="1524001"/>
          </a:xfrm>
        </p:spPr>
        <p:txBody>
          <a:bodyPr>
            <a:normAutofit/>
          </a:bodyPr>
          <a:lstStyle/>
          <a:p>
            <a:r>
              <a:rPr lang="en-US" dirty="0"/>
              <a:t>Dr. Eric Warnemunde Vertina, PhD Data Science (2025)</a:t>
            </a:r>
          </a:p>
          <a:p>
            <a:r>
              <a:rPr lang="en-US" dirty="0"/>
              <a:t>9 September, 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088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8186F-D6D2-93EB-05AD-010982B90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ML/DL methods?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80184-1A3A-4B1F-4EA2-16103825E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A0F55-4736-8936-D10E-5A7D08D87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786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9B5C9-36F6-783E-7A03-DF42D409A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1EE43-B428-D0A3-4755-4130AB1FC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ML/DL methods?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73D18-CEE2-0B72-BCE4-15756838A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MXenes have possibly largest 2D chemical space</a:t>
            </a:r>
            <a:r>
              <a:rPr lang="en-US" baseline="30000" dirty="0"/>
              <a:t>1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FCC0F-04BB-A106-F0EA-51D367CD9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A8BB1D-8C0A-3646-28CF-C3F4B70791B7}"/>
              </a:ext>
            </a:extLst>
          </p:cNvPr>
          <p:cNvSpPr txBox="1"/>
          <p:nvPr/>
        </p:nvSpPr>
        <p:spPr>
          <a:xfrm>
            <a:off x="528320" y="4979452"/>
            <a:ext cx="11287760" cy="13197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100" baseline="30000" dirty="0"/>
              <a:t>1</a:t>
            </a:r>
            <a:r>
              <a:rPr lang="en-US" sz="1100" dirty="0"/>
              <a:t> J. Park et al. Active learning framework for expediting the search of thermodynamically stable MXenes in the extensive chemical space. ACS Nano, 18(43):29678–29688, 2024. PMID: 39401454.</a:t>
            </a:r>
          </a:p>
          <a:p>
            <a:endParaRPr lang="en-US" sz="11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86012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C429C-2002-46DF-C842-F14EB7D6B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2F793-693E-EB0C-6017-075046B00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ML/DL methods?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5033B-1B68-95B7-82C2-06E1490EF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MXenes have possibly largest 2D chemical space</a:t>
            </a:r>
            <a:r>
              <a:rPr lang="en-US" baseline="30000" dirty="0"/>
              <a:t>1</a:t>
            </a:r>
            <a:endParaRPr lang="en-US" dirty="0"/>
          </a:p>
          <a:p>
            <a:r>
              <a:rPr lang="en-US" dirty="0"/>
              <a:t>MXene synthesis remains costly and time-consuming</a:t>
            </a:r>
            <a:r>
              <a:rPr lang="en-US" baseline="30000" dirty="0"/>
              <a:t>2</a:t>
            </a:r>
            <a:endParaRPr lang="en-US" baseline="30000" dirty="0">
              <a:highlight>
                <a:srgbClr val="FFFF00"/>
              </a:highlight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B80BD-8E3A-8EE7-BFDC-E2084A56E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C2AA76-6C17-EEA6-25FC-3D4BDD17CB76}"/>
              </a:ext>
            </a:extLst>
          </p:cNvPr>
          <p:cNvSpPr txBox="1"/>
          <p:nvPr/>
        </p:nvSpPr>
        <p:spPr>
          <a:xfrm>
            <a:off x="528320" y="4979452"/>
            <a:ext cx="11287760" cy="13197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100" baseline="30000" dirty="0"/>
              <a:t>1</a:t>
            </a:r>
            <a:r>
              <a:rPr lang="en-US" sz="1100" dirty="0"/>
              <a:t> J. Park et al. Active learning framework for expediting the search of thermodynamically stable MXenes in the extensive chemical space. ACS Nano, 18(43):29678–29688, 2024. PMID: 39401454.</a:t>
            </a:r>
          </a:p>
          <a:p>
            <a:endParaRPr lang="en-US" sz="1100" dirty="0"/>
          </a:p>
          <a:p>
            <a:r>
              <a:rPr lang="en-US" sz="1100" baseline="30000" dirty="0"/>
              <a:t>2</a:t>
            </a:r>
            <a:r>
              <a:rPr lang="en-US" sz="1100" dirty="0"/>
              <a:t> B. </a:t>
            </a:r>
            <a:r>
              <a:rPr lang="en-US" sz="1100" dirty="0" err="1"/>
              <a:t>Anasori</a:t>
            </a:r>
            <a:r>
              <a:rPr lang="en-US" sz="1100" dirty="0"/>
              <a:t> and Y. </a:t>
            </a:r>
            <a:r>
              <a:rPr lang="en-US" sz="1100" dirty="0" err="1"/>
              <a:t>Gogotsi</a:t>
            </a:r>
            <a:r>
              <a:rPr lang="en-US" sz="1100" dirty="0"/>
              <a:t>. 2D Metal Carbides and Nitrides (MXenes) Structure, Properties and Applications. Springer, 06 2019.</a:t>
            </a:r>
          </a:p>
          <a:p>
            <a:endParaRPr lang="en-US" sz="11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05288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11C77-0322-18CE-EF3C-43AAD4A41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E4C3E-10BF-B137-89C9-13CB2A489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ML/DL methods?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8AB3E-59DC-AB16-6DCD-454600000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MXenes have possibly largest 2D chemical space</a:t>
            </a:r>
            <a:r>
              <a:rPr lang="en-US" baseline="30000" dirty="0"/>
              <a:t>1</a:t>
            </a:r>
            <a:endParaRPr lang="en-US" dirty="0"/>
          </a:p>
          <a:p>
            <a:r>
              <a:rPr lang="en-US" dirty="0"/>
              <a:t>MXene synthesis remains costly and time-consuming</a:t>
            </a:r>
            <a:r>
              <a:rPr lang="en-US" baseline="30000" dirty="0"/>
              <a:t>2</a:t>
            </a:r>
            <a:endParaRPr lang="en-US" baseline="30000" dirty="0">
              <a:highlight>
                <a:srgbClr val="FFFF00"/>
              </a:highlight>
            </a:endParaRPr>
          </a:p>
          <a:p>
            <a:r>
              <a:rPr lang="en-US" dirty="0"/>
              <a:t>DFT: accurate but too slow for high-throughput predictions</a:t>
            </a:r>
            <a:r>
              <a:rPr lang="en-US" baseline="30000" dirty="0"/>
              <a:t>3</a:t>
            </a:r>
            <a:endParaRPr lang="en-US" dirty="0">
              <a:highlight>
                <a:srgbClr val="FFFF00"/>
              </a:highlight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6F2BB-0D25-1A8B-CD8E-2EF532B3F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6AB072-AFAD-A6F2-B6BB-2610C18007F1}"/>
              </a:ext>
            </a:extLst>
          </p:cNvPr>
          <p:cNvSpPr txBox="1"/>
          <p:nvPr/>
        </p:nvSpPr>
        <p:spPr>
          <a:xfrm>
            <a:off x="528320" y="4979452"/>
            <a:ext cx="11287760" cy="13197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100" baseline="30000" dirty="0"/>
              <a:t>1</a:t>
            </a:r>
            <a:r>
              <a:rPr lang="en-US" sz="1100" dirty="0"/>
              <a:t> J. Park et al. Active learning framework for expediting the search of thermodynamically stable MXenes in the extensive chemical space. ACS Nano, 18(43):29678–29688, 2024. PMID: 39401454.</a:t>
            </a:r>
          </a:p>
          <a:p>
            <a:endParaRPr lang="en-US" sz="1100" dirty="0"/>
          </a:p>
          <a:p>
            <a:r>
              <a:rPr lang="en-US" sz="1100" baseline="30000" dirty="0"/>
              <a:t>2</a:t>
            </a:r>
            <a:r>
              <a:rPr lang="en-US" sz="1100" dirty="0"/>
              <a:t> B. </a:t>
            </a:r>
            <a:r>
              <a:rPr lang="en-US" sz="1100" dirty="0" err="1"/>
              <a:t>Anasori</a:t>
            </a:r>
            <a:r>
              <a:rPr lang="en-US" sz="1100" dirty="0"/>
              <a:t> and Y. </a:t>
            </a:r>
            <a:r>
              <a:rPr lang="en-US" sz="1100" dirty="0" err="1"/>
              <a:t>Gogotsi</a:t>
            </a:r>
            <a:r>
              <a:rPr lang="en-US" sz="1100" dirty="0"/>
              <a:t>. 2D Metal Carbides and Nitrides (MXenes) Structure, Properties and Applications. Springer, 06 2019.</a:t>
            </a:r>
          </a:p>
          <a:p>
            <a:endParaRPr lang="en-US" sz="1100" dirty="0"/>
          </a:p>
          <a:p>
            <a:r>
              <a:rPr lang="en-US" sz="1100" baseline="30000" dirty="0"/>
              <a:t>3</a:t>
            </a:r>
            <a:r>
              <a:rPr lang="en-US" sz="1100" dirty="0"/>
              <a:t> H. Bing, O. A. von </a:t>
            </a:r>
            <a:r>
              <a:rPr lang="en-US" sz="1100" dirty="0" err="1"/>
              <a:t>Lillenfeld</a:t>
            </a:r>
            <a:r>
              <a:rPr lang="en-US" sz="1100" dirty="0"/>
              <a:t>, and D. </a:t>
            </a:r>
            <a:r>
              <a:rPr lang="en-US" sz="1100" dirty="0" err="1"/>
              <a:t>Bakowies</a:t>
            </a:r>
            <a:r>
              <a:rPr lang="en-US" sz="1100" dirty="0"/>
              <a:t>. personal communication. 2017.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70236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B0C12-4619-B695-6AFC-3BF747BA9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322B-FCCD-C35A-3003-E36B4D6D4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ML/DL methods?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23CAE-68E2-D14D-A332-8CF47DE76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MXenes have possibly largest 2D chemical space</a:t>
            </a:r>
            <a:r>
              <a:rPr lang="en-US" baseline="30000" dirty="0"/>
              <a:t>1</a:t>
            </a:r>
            <a:endParaRPr lang="en-US" dirty="0"/>
          </a:p>
          <a:p>
            <a:r>
              <a:rPr lang="en-US" dirty="0"/>
              <a:t>MXene synthesis remains costly and time-consuming</a:t>
            </a:r>
            <a:r>
              <a:rPr lang="en-US" baseline="30000" dirty="0"/>
              <a:t>2</a:t>
            </a:r>
            <a:endParaRPr lang="en-US" baseline="30000" dirty="0">
              <a:highlight>
                <a:srgbClr val="FFFF00"/>
              </a:highlight>
            </a:endParaRPr>
          </a:p>
          <a:p>
            <a:r>
              <a:rPr lang="en-US" dirty="0"/>
              <a:t>DFT: accurate but too slow for high-throughput predictions</a:t>
            </a:r>
            <a:r>
              <a:rPr lang="en-US" baseline="30000" dirty="0"/>
              <a:t>3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/>
              <a:t>ML/DL models are great for making very large numbers of predictions quickly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ED18A-B4EE-261A-FD75-B600F9D5D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062231-CFE9-29B6-B9E1-CF5F60BBDC7F}"/>
              </a:ext>
            </a:extLst>
          </p:cNvPr>
          <p:cNvSpPr txBox="1"/>
          <p:nvPr/>
        </p:nvSpPr>
        <p:spPr>
          <a:xfrm>
            <a:off x="528320" y="4979452"/>
            <a:ext cx="11287760" cy="13197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100" baseline="30000" dirty="0"/>
              <a:t>1</a:t>
            </a:r>
            <a:r>
              <a:rPr lang="en-US" sz="1100" dirty="0"/>
              <a:t> J. Park et al. Active learning framework for expediting the search of thermodynamically stable MXenes in the extensive chemical space. ACS Nano, 18(43):29678–29688, 2024. PMID: 39401454.</a:t>
            </a:r>
          </a:p>
          <a:p>
            <a:endParaRPr lang="en-US" sz="1100" dirty="0"/>
          </a:p>
          <a:p>
            <a:r>
              <a:rPr lang="en-US" sz="1100" baseline="30000" dirty="0"/>
              <a:t>2</a:t>
            </a:r>
            <a:r>
              <a:rPr lang="en-US" sz="1100" dirty="0"/>
              <a:t> B. </a:t>
            </a:r>
            <a:r>
              <a:rPr lang="en-US" sz="1100" dirty="0" err="1"/>
              <a:t>Anasori</a:t>
            </a:r>
            <a:r>
              <a:rPr lang="en-US" sz="1100" dirty="0"/>
              <a:t> and Y. </a:t>
            </a:r>
            <a:r>
              <a:rPr lang="en-US" sz="1100" dirty="0" err="1"/>
              <a:t>Gogotsi</a:t>
            </a:r>
            <a:r>
              <a:rPr lang="en-US" sz="1100" dirty="0"/>
              <a:t>. 2D Metal Carbides and Nitrides (MXenes) Structure, Properties and Applications. Springer, 06 2019.</a:t>
            </a:r>
          </a:p>
          <a:p>
            <a:endParaRPr lang="en-US" sz="1100" dirty="0"/>
          </a:p>
          <a:p>
            <a:r>
              <a:rPr lang="en-US" sz="1100" baseline="30000" dirty="0"/>
              <a:t>3</a:t>
            </a:r>
            <a:r>
              <a:rPr lang="en-US" sz="1100" dirty="0"/>
              <a:t> H. Bing, O. A. von </a:t>
            </a:r>
            <a:r>
              <a:rPr lang="en-US" sz="1100" dirty="0" err="1"/>
              <a:t>Lillenfeld</a:t>
            </a:r>
            <a:r>
              <a:rPr lang="en-US" sz="1100" dirty="0"/>
              <a:t>, and D. </a:t>
            </a:r>
            <a:r>
              <a:rPr lang="en-US" sz="1100" dirty="0" err="1"/>
              <a:t>Bakowies</a:t>
            </a:r>
            <a:r>
              <a:rPr lang="en-US" sz="1100" dirty="0"/>
              <a:t>. personal communication. 2017.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76022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B760-EC51-3D35-8401-45424307A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8BF7C-4126-62A4-7087-71E4DD97C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3F0B4-4FAD-DA67-15D5-D69071C9E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390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07898-D81E-C0E2-0BAF-329370B21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D26A1-17FE-8F59-D185-EE2CF7171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E91FB-927E-9F9B-E30B-6184274F1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pipeline to perform high-throughput MXene property predictions with greater accuracy and computationally cheaper inputs than current ML methods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08BCA-B045-92EF-EB98-A403A90A1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584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5C705-E387-D687-C8BA-6510392C2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EC6EF-8478-E5F6-DEC7-5065D86AE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DC6FB-8762-7349-591B-9762409A0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pipeline to perform high-throughput MXene property predictions with greater accuracy and computationally cheaper inputs than current ML methods</a:t>
            </a:r>
          </a:p>
          <a:p>
            <a:r>
              <a:rPr lang="en-US" dirty="0"/>
              <a:t>Takes ~1 second to calculate a target property for one MXene</a:t>
            </a:r>
          </a:p>
          <a:p>
            <a:pPr lvl="1"/>
            <a:r>
              <a:rPr lang="en-US" b="1" dirty="0"/>
              <a:t>~50,000x faster than DFT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A32E8-1E0B-F325-25FE-7F9F053D0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218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F4595-6F6E-A891-E9AE-F2D2BEF46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7151F-69CC-ADBA-B378-068FD098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361FB-F5ED-4F34-CF91-EC9388BD9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pipeline to perform high-throughput MXene property predictions with greater accuracy and computationally cheaper inputs than current ML methods</a:t>
            </a:r>
          </a:p>
          <a:p>
            <a:r>
              <a:rPr lang="en-US" dirty="0"/>
              <a:t>Takes ~1 second to calculate a target property for one MXene</a:t>
            </a:r>
          </a:p>
          <a:p>
            <a:pPr lvl="1"/>
            <a:r>
              <a:rPr lang="en-US" b="1" dirty="0"/>
              <a:t>~50,000x faster than DFT</a:t>
            </a:r>
            <a:endParaRPr lang="en-US" dirty="0"/>
          </a:p>
          <a:p>
            <a:r>
              <a:rPr lang="en-US" dirty="0"/>
              <a:t>We predict MXene target properties for 13 million unique MXenes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26F59-3340-F7EC-1BA7-DB57C8488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554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49720-BD0D-8611-BE4C-FBFF9F87F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98DD9-48FC-2165-3124-03209A577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B6C0C-166E-6112-9138-85AE7AFBA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pipeline to perform high-throughput MXene property predictions with greater accuracy and computationally cheaper inputs than current ML methods</a:t>
            </a:r>
          </a:p>
          <a:p>
            <a:r>
              <a:rPr lang="en-US" dirty="0"/>
              <a:t>Takes ~1 second to calculate a target property for one MXene</a:t>
            </a:r>
          </a:p>
          <a:p>
            <a:pPr lvl="1"/>
            <a:r>
              <a:rPr lang="en-US" b="1" dirty="0"/>
              <a:t>~50,000x faster than DFT</a:t>
            </a:r>
            <a:endParaRPr lang="en-US" dirty="0"/>
          </a:p>
          <a:p>
            <a:r>
              <a:rPr lang="en-US" dirty="0"/>
              <a:t>We predict MXene target properties for 13 million unique MXenes</a:t>
            </a:r>
          </a:p>
          <a:p>
            <a:r>
              <a:rPr lang="en-US" b="1" dirty="0"/>
              <a:t>To our knowledge, this is the largest publicly-available dataset of MXenes properties to date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20548-F2A9-CAF7-F072-B79500BB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327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0D47E-0950-189D-FCF5-A2CA98F0E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66801-07F7-C493-432E-98EDAC00B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793CB-25A7-71C1-AC22-078CA96DE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pipeline to perform high-throughput MXene property predictions with greater accuracy and computationally cheaper inputs than current ML methods</a:t>
            </a:r>
          </a:p>
          <a:p>
            <a:r>
              <a:rPr lang="en-US" dirty="0"/>
              <a:t>Takes ~1 second to calculate a target property for one MXene</a:t>
            </a:r>
          </a:p>
          <a:p>
            <a:pPr lvl="1"/>
            <a:r>
              <a:rPr lang="en-US" b="1" dirty="0"/>
              <a:t>~50,000x faster than DFT</a:t>
            </a:r>
            <a:endParaRPr lang="en-US" dirty="0"/>
          </a:p>
          <a:p>
            <a:r>
              <a:rPr lang="en-US" dirty="0"/>
              <a:t>We predict MXene target properties for 13 million unique MXenes</a:t>
            </a:r>
          </a:p>
          <a:p>
            <a:r>
              <a:rPr lang="en-US" b="1" dirty="0"/>
              <a:t>To our knowledge, this is the largest publicly-available dataset of MXenes properties to date</a:t>
            </a:r>
          </a:p>
          <a:p>
            <a:pPr lvl="1"/>
            <a:r>
              <a:rPr lang="en-US" dirty="0"/>
              <a:t>Most extreme predictions found here: </a:t>
            </a:r>
            <a:r>
              <a:rPr lang="en-US" dirty="0">
                <a:hlinkClick r:id="rId2"/>
              </a:rPr>
              <a:t>https://github.com/EricWarnemundeVertina/Deep-Learning-Methods-for-High-Throughput-MXene-Property-Predictions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F3830-ADC1-35D3-1928-D4B5D8691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491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E7F39-ADD6-D0A2-31E9-0C707FCDD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High-throughput MXene prediction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9F382-FC5B-3CF1-2DB4-0760E62AC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pipeline consists of two algorithms: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33107-6375-7317-D7C9-E5B81C92B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613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9F559-43D1-0EEE-4BCC-F7AFA3BB3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B85A2-9253-1AD5-337E-1FCDA72AA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High-throughput MXene prediction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240D8-137A-1D67-3B8B-0288100B2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pipeline consists of two algorithms: </a:t>
            </a:r>
          </a:p>
          <a:p>
            <a:r>
              <a:rPr lang="en-US" dirty="0"/>
              <a:t>(1) a novel rules-based generative model to generate a large set of unique MXene crystal graph structures (.</a:t>
            </a:r>
            <a:r>
              <a:rPr lang="en-US" dirty="0" err="1"/>
              <a:t>cif</a:t>
            </a:r>
            <a:r>
              <a:rPr lang="en-US" dirty="0"/>
              <a:t> files)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53C18-BDF9-1D72-C8FF-CCB24977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954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2D218-9E54-4656-B6A5-6E05CE06A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5EAE5-E123-55A1-63A3-B3E42D577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High-throughput MXene prediction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E65B4-F47A-D422-A86F-E27AAEC5D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pipeline consists of two algorithms: </a:t>
            </a:r>
          </a:p>
          <a:p>
            <a:r>
              <a:rPr lang="en-US" dirty="0"/>
              <a:t>(1) a novel rules-based generative model to generate a large set of unique MXene crystal graph structures (.</a:t>
            </a:r>
            <a:r>
              <a:rPr lang="en-US" dirty="0" err="1"/>
              <a:t>cif</a:t>
            </a:r>
            <a:r>
              <a:rPr lang="en-US" dirty="0"/>
              <a:t> files)</a:t>
            </a:r>
          </a:p>
          <a:p>
            <a:r>
              <a:rPr lang="en-US" dirty="0"/>
              <a:t>(2) a Deep Learning model that takes as input the generated molecular graph structure and outputs predicted properties for the given MXene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3B6A7-7F74-FD99-A064-B9A8866C9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798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7228A-CACB-A4B5-5F5F-3B9328E88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“Desired” MXene Properties to predict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C426FF6-44F8-4276-88F8-A84C3C1E6C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1024568"/>
              </p:ext>
            </p:extLst>
          </p:nvPr>
        </p:nvGraphicFramePr>
        <p:xfrm>
          <a:off x="442452" y="1341724"/>
          <a:ext cx="10972800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89319874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785133996"/>
                    </a:ext>
                  </a:extLst>
                </a:gridCol>
              </a:tblGrid>
              <a:tr h="296820">
                <a:tc>
                  <a:txBody>
                    <a:bodyPr/>
                    <a:lstStyle/>
                    <a:p>
                      <a:r>
                        <a:rPr lang="en-US" sz="1400" dirty="0"/>
                        <a:t>Property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Property Name (continued)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083199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Band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Magnetic (T/F)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627177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Carrier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Metallic (T/F)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353515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Carrier Effective 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Optical Absorption Coefficient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53593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Carrier Lifetime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Permeability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9194813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Carrier Mobility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Permittivity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179266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Charge Recombination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Poisson’s 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438470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d-Band 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Reflectivity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552958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Density of States at Fermi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Resistivity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287113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Dynamically 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Seebeck</a:t>
                      </a:r>
                      <a:r>
                        <a:rPr lang="en-US" sz="1400" dirty="0"/>
                        <a:t> Coefficient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238744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Elastic Moduli (Bulk, Shear, Young’s)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Sensitivity to Disorder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815509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Elastic Coefficients, c</a:t>
                      </a:r>
                      <a:r>
                        <a:rPr lang="en-US" sz="1400" baseline="-25000" dirty="0"/>
                        <a:t>11</a:t>
                      </a:r>
                      <a:r>
                        <a:rPr lang="en-US" sz="1400" dirty="0"/>
                        <a:t> and c</a:t>
                      </a:r>
                      <a:r>
                        <a:rPr lang="en-US" sz="1400" baseline="-250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(Termination) Binding Energy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7508892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Energy above Convex Hull</a:t>
                      </a:r>
                      <a:endParaRPr 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Thermal Conductivity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061308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Electrical Conductivity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THz Range (Transmission)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170691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Heat of 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Transmittance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453526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Hole Effective 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Work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008796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Lattice 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93033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D610A-DA3C-9BC4-A636-86081A767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827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03698-5E77-8AFA-2A43-657DCBDE6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5E970-51E6-EE86-83CF-113311E0E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“Desired” MXene Properties to predict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95E5C57D-AC69-12E2-B776-66D5308654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110814"/>
              </p:ext>
            </p:extLst>
          </p:nvPr>
        </p:nvGraphicFramePr>
        <p:xfrm>
          <a:off x="442452" y="1341724"/>
          <a:ext cx="10972800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89319874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785133996"/>
                    </a:ext>
                  </a:extLst>
                </a:gridCol>
              </a:tblGrid>
              <a:tr h="296820">
                <a:tc>
                  <a:txBody>
                    <a:bodyPr/>
                    <a:lstStyle/>
                    <a:p>
                      <a:r>
                        <a:rPr lang="en-US" sz="1400" dirty="0"/>
                        <a:t>Property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Property Name (continued)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083199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Band Gap*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Magnetic (T/F)*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627177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Carrier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Metallic (T/F)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353515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Carrier Effective 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Optical Absorption Coefficient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53593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Carrier Lifetime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Permeability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9194813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Carrier Mobility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Permittivity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179266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Charge Recombination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Poisson’s Ratio*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438470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d-Band Center*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Reflectivity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552958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Density of States at Fermi Level*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Resistivity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287113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Dynamically Stable*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 err="1"/>
                        <a:t>Seebeck</a:t>
                      </a:r>
                      <a:r>
                        <a:rPr lang="en-US" sz="1400" strike="sngStrike" baseline="0" dirty="0"/>
                        <a:t> Coefficient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238744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Elastic Moduli (Bulk, Shear, Young’s)*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Sensitivity to Disorder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815509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Elastic Coefficients, c</a:t>
                      </a:r>
                      <a:r>
                        <a:rPr lang="en-US" sz="1400" b="1" baseline="-25000" dirty="0"/>
                        <a:t>11</a:t>
                      </a:r>
                      <a:r>
                        <a:rPr lang="en-US" sz="1400" b="1" dirty="0"/>
                        <a:t> and c</a:t>
                      </a:r>
                      <a:r>
                        <a:rPr lang="en-US" sz="1400" b="1" baseline="-25000" dirty="0"/>
                        <a:t>12</a:t>
                      </a:r>
                      <a:r>
                        <a:rPr lang="en-US" sz="1400" b="1" dirty="0"/>
                        <a:t>*</a:t>
                      </a:r>
                      <a:endParaRPr lang="en-US" sz="1400" b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(Termination) Binding Energy*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7508892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Electrical Conductivity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Thermal Conductivity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061308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Energy above Convex Hull*</a:t>
                      </a:r>
                      <a:endParaRPr lang="en-US" sz="1400" b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THz Range (Transmission)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170691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Heat of Formation*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Transmittance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453526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Hole Effective 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Work Function*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008796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Lattice Constant*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93033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FFA25-57F1-6380-36FB-6369E19DD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630447-CFFA-7AAD-C29C-33D57CAF5603}"/>
              </a:ext>
            </a:extLst>
          </p:cNvPr>
          <p:cNvSpPr txBox="1"/>
          <p:nvPr/>
        </p:nvSpPr>
        <p:spPr>
          <a:xfrm>
            <a:off x="698091" y="6584343"/>
            <a:ext cx="3726426" cy="25847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200" dirty="0"/>
              <a:t>* Indicates sufficient training data found</a:t>
            </a:r>
          </a:p>
        </p:txBody>
      </p:sp>
    </p:spTree>
    <p:extLst>
      <p:ext uri="{BB962C8B-B14F-4D97-AF65-F5344CB8AC3E}">
        <p14:creationId xmlns:p14="http://schemas.microsoft.com/office/powerpoint/2010/main" val="39847973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4F58F-D011-EECC-5B56-A40BFA943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AA478-C508-30CC-80D1-9CB08000A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“Desired” MXene Properties to predict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216CFDA1-E65E-6FE5-875A-87D16E3D9B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9737648"/>
              </p:ext>
            </p:extLst>
          </p:nvPr>
        </p:nvGraphicFramePr>
        <p:xfrm>
          <a:off x="442452" y="1341724"/>
          <a:ext cx="10972800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89319874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785133996"/>
                    </a:ext>
                  </a:extLst>
                </a:gridCol>
              </a:tblGrid>
              <a:tr h="296820">
                <a:tc>
                  <a:txBody>
                    <a:bodyPr/>
                    <a:lstStyle/>
                    <a:p>
                      <a:r>
                        <a:rPr lang="en-US" sz="1400" dirty="0"/>
                        <a:t>Property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Property Name (continued)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083199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Band Gap*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Magnetic (T/F)*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627177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Carrier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Metallic (T/F)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353515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Carrier Effective 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Optical Absorption Coefficient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53593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Carrier Lifetime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Permeability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9194813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Carrier Mobility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Permittivity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179266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Charge Recombination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strike="sngStrike" dirty="0"/>
                        <a:t>Poisson’s 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438470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d-Band Center*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Reflectivity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552958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Density of States at Fermi Level*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Resistivity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287113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Dynamically Stable*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 err="1"/>
                        <a:t>Seebeck</a:t>
                      </a:r>
                      <a:r>
                        <a:rPr lang="en-US" sz="1400" strike="sngStrike" baseline="0" dirty="0"/>
                        <a:t> Coefficient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238744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Elastic Moduli (Bulk*, </a:t>
                      </a:r>
                      <a:r>
                        <a:rPr lang="en-US" sz="1400" b="0" strike="sngStrike" baseline="0" dirty="0"/>
                        <a:t>Shear, Young’s</a:t>
                      </a:r>
                      <a:r>
                        <a:rPr lang="en-US" sz="1400" b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Sensitivity to Disorder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815509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strike="sngStrike" dirty="0"/>
                        <a:t>Elastic Coefficients, c</a:t>
                      </a:r>
                      <a:r>
                        <a:rPr lang="en-US" sz="1400" b="0" strike="sngStrike" baseline="-25000" dirty="0"/>
                        <a:t>11</a:t>
                      </a:r>
                      <a:r>
                        <a:rPr lang="en-US" sz="1400" b="0" strike="sngStrike" dirty="0"/>
                        <a:t> and c</a:t>
                      </a:r>
                      <a:r>
                        <a:rPr lang="en-US" sz="1400" b="0" strike="sngStrike" baseline="-250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(Termination) Binding Energy*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7508892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Electrical Conductivity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Thermal Conductivity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061308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strike="sngStrike" dirty="0"/>
                        <a:t>Energy above Convex Hull</a:t>
                      </a:r>
                      <a:endParaRPr lang="en-US" sz="1400" b="0" strike="sngStrike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THz Range (Transmission)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170691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Heat of Formation*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Transmittance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453526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baseline="0" dirty="0"/>
                        <a:t>Hole Effective 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Work Function*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008796"/>
                  </a:ext>
                </a:extLst>
              </a:tr>
              <a:tr h="296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strike="sngStrike" dirty="0"/>
                        <a:t>Lattice 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93033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87755-F64D-3E6C-BCBA-5BB394B87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5E6995-29BB-9F0E-065E-347C94B59329}"/>
              </a:ext>
            </a:extLst>
          </p:cNvPr>
          <p:cNvSpPr txBox="1"/>
          <p:nvPr/>
        </p:nvSpPr>
        <p:spPr>
          <a:xfrm>
            <a:off x="698090" y="6584342"/>
            <a:ext cx="6495189" cy="27365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200" dirty="0"/>
              <a:t>* Indicates sufficient training data found</a:t>
            </a:r>
            <a:r>
              <a:rPr lang="en-US" sz="1200" i="1" dirty="0"/>
              <a:t> and</a:t>
            </a:r>
            <a:r>
              <a:rPr lang="en-US" sz="1200" dirty="0"/>
              <a:t> sufficiently accurate GNN models</a:t>
            </a:r>
          </a:p>
        </p:txBody>
      </p:sp>
    </p:spTree>
    <p:extLst>
      <p:ext uri="{BB962C8B-B14F-4D97-AF65-F5344CB8AC3E}">
        <p14:creationId xmlns:p14="http://schemas.microsoft.com/office/powerpoint/2010/main" val="11327310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176CF-09F4-3F72-0E30-0CE355602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 atoms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E7D19-C47D-5147-8FDF-8CEF18E6C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BF50B-702A-6287-EB39-629738AC5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8" name="Picture 7" descr="A blue squares with black letters&#10;&#10;AI-generated content may be incorrect.">
            <a:extLst>
              <a:ext uri="{FF2B5EF4-FFF2-40B4-BE49-F238E27FC236}">
                <a16:creationId xmlns:a16="http://schemas.microsoft.com/office/drawing/2014/main" id="{F55DB9BE-286A-7A08-95B9-7472382715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t="8925" r="6404" b="6199"/>
          <a:stretch>
            <a:fillRect/>
          </a:stretch>
        </p:blipFill>
        <p:spPr>
          <a:xfrm>
            <a:off x="2852345" y="518583"/>
            <a:ext cx="9447810" cy="586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1965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778D8-7443-134F-AA8D-99547A651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 atoms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00F69-65B5-1617-6579-CAE480999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56E76-1BA2-E3AA-351F-D24792A1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D471D4-9CFC-1752-2940-A0C7AB0DB6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5" t="3622" r="5820" b="8817"/>
          <a:stretch>
            <a:fillRect/>
          </a:stretch>
        </p:blipFill>
        <p:spPr>
          <a:xfrm>
            <a:off x="2664542" y="268066"/>
            <a:ext cx="9419303" cy="600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1494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AD1C9-D20C-7835-0A0C-5D3F7E25F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US" baseline="-25000" dirty="0"/>
              <a:t>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EB1A5-AEB6-884D-3282-64255D09F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C37845-45DD-266A-424F-A41F73900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" t="9681" r="8186" b="7452"/>
          <a:stretch>
            <a:fillRect/>
          </a:stretch>
        </p:blipFill>
        <p:spPr>
          <a:xfrm>
            <a:off x="2458064" y="587477"/>
            <a:ext cx="9330814" cy="568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6235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C814F-9F9D-F1DE-B3BE-960FCED03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MXene</a:t>
            </a:r>
            <a:r>
              <a:rPr lang="en-US" dirty="0"/>
              <a:t> Sample Space Enumeration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9A145-B2E8-C8F6-DCD0-D5A495670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 = 9</a:t>
            </a:r>
          </a:p>
          <a:p>
            <a:r>
              <a:rPr lang="en-US" dirty="0"/>
              <a:t>M = 64</a:t>
            </a:r>
          </a:p>
          <a:p>
            <a:r>
              <a:rPr lang="en-US" dirty="0"/>
              <a:t>X = 16</a:t>
            </a:r>
          </a:p>
          <a:p>
            <a:r>
              <a:rPr lang="en-US" dirty="0"/>
              <a:t>T</a:t>
            </a:r>
            <a:r>
              <a:rPr lang="en-US" baseline="-25000" dirty="0"/>
              <a:t>x</a:t>
            </a:r>
            <a:r>
              <a:rPr lang="en-US" dirty="0"/>
              <a:t> = 39</a:t>
            </a:r>
          </a:p>
          <a:p>
            <a:r>
              <a:rPr lang="en-US" dirty="0"/>
              <a:t># Structure types = 10</a:t>
            </a:r>
          </a:p>
          <a:p>
            <a:r>
              <a:rPr lang="en-US" dirty="0"/>
              <a:t>A simplified sample space with these possibilities consists of:</a:t>
            </a:r>
          </a:p>
          <a:p>
            <a:pPr lvl="1"/>
            <a:r>
              <a:rPr lang="en-US" b="1" dirty="0"/>
              <a:t>90 BILLION </a:t>
            </a:r>
            <a:r>
              <a:rPr lang="en-US" b="1" dirty="0" err="1"/>
              <a:t>MXenes</a:t>
            </a:r>
            <a:r>
              <a:rPr lang="en-US" b="1" dirty="0"/>
              <a:t>!!!!</a:t>
            </a:r>
          </a:p>
          <a:p>
            <a:pPr lvl="1"/>
            <a:r>
              <a:rPr lang="en-US" dirty="0"/>
              <a:t>And this is vastly simplified!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F3987-6303-5806-033C-6FF30A5FA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3638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FAB08-5DCB-E53B-6820-4FF59FCA7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this sample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55AE4-63A8-BCF9-EE6B-D55AA373F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sample a subset of these 90 billion </a:t>
            </a:r>
            <a:r>
              <a:rPr lang="en-US" dirty="0" err="1"/>
              <a:t>MXenes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D573D-6E8E-CCB1-4A4E-0374057EE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5091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90D9-13A0-2166-029A-68624E663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M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543F9-AE19-93E4-6155-F9085AB47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6B37F-9CE3-DC50-0C5C-B663F6071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8D757D-63F9-600D-56A0-E98A77353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39" y="1547550"/>
            <a:ext cx="10717121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1898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14E96-2B08-EB0F-8DC5-5AB6F9C03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X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09BC3-8DE6-2CA2-1A5B-B9121DFEC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CD6D2-FD89-1B8D-A821-E9E0179A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10650C-1BA9-4B06-2118-3636257C3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522" y="2366814"/>
            <a:ext cx="5410955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015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79955-8F01-DD72-D206-32D81A197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T</a:t>
            </a:r>
            <a:r>
              <a:rPr lang="en-US" baseline="-25000" dirty="0"/>
              <a:t>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E5D4B-E02A-386C-9B26-3A9A84167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D47B5-1862-99A6-267E-22010AF6C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A1407E-1F28-4149-D3EE-2FC71122F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390" y="2195340"/>
            <a:ext cx="6049219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4541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7F25A-14E3-5E4E-401A-B870D17B5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E510-92CF-0A97-AA4D-BFEDA953E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456F6CF-D62F-C6D3-FE71-E09CD2724C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6659" y="150295"/>
            <a:ext cx="2179420" cy="630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3317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8F4FD-1910-1B6D-485F-49AF1D0CA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B1313-47D4-E1A8-3762-C0C292BF1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198CC-9AC6-A78A-CAC2-DE9C1AC89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CB0F1E3-A0CD-F350-9372-5CA6DA58D3F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6659" y="150295"/>
            <a:ext cx="2179420" cy="6309872"/>
          </a:xfrm>
          <a:prstGeom prst="rect">
            <a:avLst/>
          </a:prstGeom>
        </p:spPr>
      </p:pic>
      <p:pic>
        <p:nvPicPr>
          <p:cNvPr id="5" name="Picture 4" descr="A diagram of a molecule&#10;&#10;Description automatically generated with medium confidence">
            <a:extLst>
              <a:ext uri="{FF2B5EF4-FFF2-40B4-BE49-F238E27FC236}">
                <a16:creationId xmlns:a16="http://schemas.microsoft.com/office/drawing/2014/main" id="{505E8F61-4A72-0CEE-EAFD-D09F1D8341D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61" b="1431"/>
          <a:stretch>
            <a:fillRect/>
          </a:stretch>
        </p:blipFill>
        <p:spPr>
          <a:xfrm>
            <a:off x="375921" y="1667125"/>
            <a:ext cx="8818879" cy="42048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33DDCA-785F-4614-0978-1E6D73135ED4}"/>
              </a:ext>
            </a:extLst>
          </p:cNvPr>
          <p:cNvSpPr txBox="1"/>
          <p:nvPr/>
        </p:nvSpPr>
        <p:spPr>
          <a:xfrm>
            <a:off x="701040" y="6035040"/>
            <a:ext cx="2997200" cy="4715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600" dirty="0"/>
              <a:t>10 MXene Structure types</a:t>
            </a:r>
          </a:p>
        </p:txBody>
      </p:sp>
    </p:spTree>
    <p:extLst>
      <p:ext uri="{BB962C8B-B14F-4D97-AF65-F5344CB8AC3E}">
        <p14:creationId xmlns:p14="http://schemas.microsoft.com/office/powerpoint/2010/main" val="30229269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68433-D50A-3A8C-101D-42356059A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E6A5C-929D-60D4-1273-678EB8F40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6F614-A096-6B6F-6B84-53A7ACA7B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0567249-9DE1-2A1B-5D6A-76142DA73A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6659" y="150295"/>
            <a:ext cx="2179420" cy="63098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C820D0-9650-3E71-BA7C-0E9743804A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5464"/>
          <a:stretch>
            <a:fillRect/>
          </a:stretch>
        </p:blipFill>
        <p:spPr>
          <a:xfrm>
            <a:off x="955041" y="1741675"/>
            <a:ext cx="6197600" cy="3374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7182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62CDF-D704-F470-EAB6-FDF2EE94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229FB-A330-C29A-972D-3441EB112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1026" name="Picture 1">
            <a:extLst>
              <a:ext uri="{FF2B5EF4-FFF2-40B4-BE49-F238E27FC236}">
                <a16:creationId xmlns:a16="http://schemas.microsoft.com/office/drawing/2014/main" id="{40E1D3EA-0B82-713E-8229-FCB0A7D5E2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05" b="15056"/>
          <a:stretch>
            <a:fillRect/>
          </a:stretch>
        </p:blipFill>
        <p:spPr bwMode="auto">
          <a:xfrm>
            <a:off x="304800" y="-1"/>
            <a:ext cx="11531600" cy="6023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162605-3EC1-7FDA-EC8C-82413EF6D113}"/>
              </a:ext>
            </a:extLst>
          </p:cNvPr>
          <p:cNvSpPr txBox="1"/>
          <p:nvPr/>
        </p:nvSpPr>
        <p:spPr>
          <a:xfrm>
            <a:off x="304800" y="5941124"/>
            <a:ext cx="11480800" cy="60317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100" dirty="0"/>
              <a:t>Accuracy of different machine learning models when predicting various MXene properties. The value after the ± symbol denotes the standard deviation, when available. WF denotes Work Function, </a:t>
            </a:r>
            <a:r>
              <a:rPr lang="en-US" sz="1100" i="1" dirty="0"/>
              <a:t>E</a:t>
            </a:r>
            <a:r>
              <a:rPr lang="en-US" sz="1100" i="1" baseline="-25000" dirty="0"/>
              <a:t>g</a:t>
            </a:r>
            <a:r>
              <a:rPr lang="en-US" sz="1100" dirty="0"/>
              <a:t> Band Gap, </a:t>
            </a:r>
            <a:r>
              <a:rPr lang="en-US" sz="1100" i="1" dirty="0"/>
              <a:t>E</a:t>
            </a:r>
            <a:r>
              <a:rPr lang="en-US" sz="1100" i="1" baseline="-25000" dirty="0"/>
              <a:t>b</a:t>
            </a:r>
            <a:r>
              <a:rPr lang="en-US" sz="1100" dirty="0"/>
              <a:t> Binding Energy, </a:t>
            </a:r>
            <a:r>
              <a:rPr lang="en-US" sz="1100" i="1" dirty="0"/>
              <a:t>K</a:t>
            </a:r>
            <a:r>
              <a:rPr lang="en-US" sz="1100" dirty="0"/>
              <a:t> Bulk Modulus, </a:t>
            </a:r>
            <a:r>
              <a:rPr lang="en-US" sz="1100" i="1" dirty="0" err="1"/>
              <a:t>ε</a:t>
            </a:r>
            <a:r>
              <a:rPr lang="en-US" sz="1100" i="1" baseline="-25000" dirty="0" err="1"/>
              <a:t>d</a:t>
            </a:r>
            <a:r>
              <a:rPr lang="en-US" sz="1100" dirty="0"/>
              <a:t> d-Band Center, </a:t>
            </a:r>
            <a:r>
              <a:rPr lang="en-US" sz="1100" i="1" dirty="0"/>
              <a:t>N(E</a:t>
            </a:r>
            <a:r>
              <a:rPr lang="en-US" sz="1100" i="1" baseline="-25000" dirty="0"/>
              <a:t>f</a:t>
            </a:r>
            <a:r>
              <a:rPr lang="en-US" sz="1100" i="1" dirty="0"/>
              <a:t>) </a:t>
            </a:r>
            <a:r>
              <a:rPr lang="en-US" sz="1100" dirty="0"/>
              <a:t>Density of States at Fermi Level, Dy. St. Dynamically Stable, and </a:t>
            </a:r>
            <a:r>
              <a:rPr lang="en-US" sz="1100" i="1" dirty="0"/>
              <a:t>ΔH</a:t>
            </a:r>
            <a:r>
              <a:rPr lang="en-US" sz="1100" dirty="0"/>
              <a:t> is Heat of Formation.</a:t>
            </a:r>
          </a:p>
        </p:txBody>
      </p:sp>
    </p:spTree>
    <p:extLst>
      <p:ext uri="{BB962C8B-B14F-4D97-AF65-F5344CB8AC3E}">
        <p14:creationId xmlns:p14="http://schemas.microsoft.com/office/powerpoint/2010/main" val="22214800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C7ED2-2631-9407-CE71-23772A38D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3FEC17-21B3-D85B-E991-8BA18572D9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6760" b="35200"/>
          <a:stretch>
            <a:fillRect/>
          </a:stretch>
        </p:blipFill>
        <p:spPr>
          <a:xfrm>
            <a:off x="609601" y="1"/>
            <a:ext cx="6868159" cy="675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548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8354A-9125-80BB-AB5E-91063EBA7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of Generated MXenes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21EAA-8846-B096-77AC-652697E14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74551D-1114-0609-31DF-9402F3797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3456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110C0-D0D7-4361-019A-DED3CE890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84E05-87AE-44BD-89AD-0486F62DB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of Generated MXenes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A0092-31FF-3BCD-5E4D-BD2A285BF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91.2% of generated MXenes (11,954,811) predicted to be dynamically stable</a:t>
            </a:r>
            <a:r>
              <a:rPr lang="en-US" baseline="30000" dirty="0"/>
              <a:t>1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73C59-2AF8-C7C9-2FFF-248134DD1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0B030F-0385-5CF7-F392-41F0FD207B37}"/>
              </a:ext>
            </a:extLst>
          </p:cNvPr>
          <p:cNvSpPr txBox="1"/>
          <p:nvPr/>
        </p:nvSpPr>
        <p:spPr>
          <a:xfrm>
            <a:off x="355600" y="5463515"/>
            <a:ext cx="3241040" cy="43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1"/>
            <a:r>
              <a:rPr lang="en-US" sz="1000" baseline="30000" dirty="0"/>
              <a:t>1</a:t>
            </a:r>
            <a:r>
              <a:rPr lang="en-US" sz="1000" dirty="0"/>
              <a:t> Dynamic stability: predicted T/F</a:t>
            </a:r>
          </a:p>
        </p:txBody>
      </p:sp>
    </p:spTree>
    <p:extLst>
      <p:ext uri="{BB962C8B-B14F-4D97-AF65-F5344CB8AC3E}">
        <p14:creationId xmlns:p14="http://schemas.microsoft.com/office/powerpoint/2010/main" val="25299060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14EF3-C1FB-8B35-6E55-D8E193662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64E1-9BA4-B5FB-18DB-B4CEA45AF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of Generated MXenes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6D148-0D80-9FC0-526D-979BA1AA2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91.2% of generated MXenes (11,954,811) predicted to be dynamically stable</a:t>
            </a:r>
            <a:r>
              <a:rPr lang="en-US" baseline="30000" dirty="0"/>
              <a:t>1</a:t>
            </a:r>
            <a:r>
              <a:rPr lang="en-US" dirty="0"/>
              <a:t> </a:t>
            </a:r>
          </a:p>
          <a:p>
            <a:r>
              <a:rPr lang="en-US" dirty="0"/>
              <a:t>98.8% of MXenes (12,943,783) predicted to be highly stable by binding energy</a:t>
            </a:r>
            <a:r>
              <a:rPr lang="en-US" baseline="30000" dirty="0"/>
              <a:t>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5CB51-5765-E2A1-66F0-A1933C2A8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A592D8-C7C6-93CB-DEF9-91C21ECBC53A}"/>
              </a:ext>
            </a:extLst>
          </p:cNvPr>
          <p:cNvSpPr txBox="1"/>
          <p:nvPr/>
        </p:nvSpPr>
        <p:spPr>
          <a:xfrm>
            <a:off x="355600" y="5463515"/>
            <a:ext cx="3241040" cy="43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1"/>
            <a:r>
              <a:rPr lang="en-US" sz="1000" baseline="30000" dirty="0"/>
              <a:t>1</a:t>
            </a:r>
            <a:r>
              <a:rPr lang="en-US" sz="1000" dirty="0"/>
              <a:t> Dynamic stability: predicted T/F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B2FC59-84CA-3DA5-AF94-BE6F0D3FA6E6}"/>
              </a:ext>
            </a:extLst>
          </p:cNvPr>
          <p:cNvSpPr txBox="1"/>
          <p:nvPr/>
        </p:nvSpPr>
        <p:spPr>
          <a:xfrm>
            <a:off x="3342640" y="5463515"/>
            <a:ext cx="3881120" cy="12319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1"/>
            <a:r>
              <a:rPr lang="en-US" sz="1000" baseline="30000" dirty="0"/>
              <a:t>2</a:t>
            </a:r>
            <a:r>
              <a:rPr lang="en-US" sz="1000" dirty="0"/>
              <a:t> Thresholds for Binding Energy: </a:t>
            </a:r>
          </a:p>
          <a:p>
            <a:pPr lvl="2"/>
            <a:r>
              <a:rPr lang="en-US" sz="800" dirty="0"/>
              <a:t>≤ -3.0 eV - highly stable </a:t>
            </a:r>
          </a:p>
          <a:p>
            <a:pPr lvl="2"/>
            <a:r>
              <a:rPr lang="en-US" sz="800" dirty="0"/>
              <a:t>-3.0 to 0 eV - stable</a:t>
            </a:r>
          </a:p>
          <a:p>
            <a:pPr marL="1085850" lvl="2" indent="-171450">
              <a:buFont typeface="Wingdings" panose="05000000000000000000" pitchFamily="2" charset="2"/>
              <a:buChar char="Ø"/>
            </a:pPr>
            <a:r>
              <a:rPr lang="en-US" sz="800" dirty="0"/>
              <a:t>0 eV - unstable</a:t>
            </a:r>
            <a:endParaRPr lang="en-US" sz="800" dirty="0">
              <a:highlight>
                <a:srgbClr val="FFFF00"/>
              </a:highlight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H. Guo and S. Lee. J. Mater. Chem. A, 13:22730–22744, 2025.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R. Jones and J. Coutinho. In Cor Claeys and Eddy Simoen, editors, Germanium-Based Technologies, pages 187–210. Elsevier, Oxford, 2007.</a:t>
            </a:r>
            <a:endParaRPr lang="en-US" sz="8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04431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597C5-4349-A2C5-2607-8466A04DC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6A50-591C-11DF-DE41-DC9045389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of Generated MXenes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5F0AA-B598-FB46-78FB-A4EDB5EF1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91.2% of generated MXenes (11,954,811) predicted to be dynamically stable</a:t>
            </a:r>
            <a:r>
              <a:rPr lang="en-US" baseline="30000" dirty="0"/>
              <a:t>1</a:t>
            </a:r>
            <a:r>
              <a:rPr lang="en-US" dirty="0"/>
              <a:t> </a:t>
            </a:r>
          </a:p>
          <a:p>
            <a:r>
              <a:rPr lang="en-US" dirty="0"/>
              <a:t>98.8% of MXenes (12,943,783) predicted to be highly stable by binding energy</a:t>
            </a:r>
            <a:r>
              <a:rPr lang="en-US" baseline="30000" dirty="0"/>
              <a:t>2</a:t>
            </a:r>
          </a:p>
          <a:p>
            <a:r>
              <a:rPr lang="en-US" dirty="0"/>
              <a:t>92.2% of MXenes (12,091,811) predicted to be stable or highly stable by HoF</a:t>
            </a:r>
            <a:r>
              <a:rPr lang="en-US" baseline="30000" dirty="0"/>
              <a:t>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B17BC-0B0A-2C17-BCA0-A56885A25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C046CE-5294-78B6-1DF8-F9AFC06471A4}"/>
              </a:ext>
            </a:extLst>
          </p:cNvPr>
          <p:cNvSpPr txBox="1"/>
          <p:nvPr/>
        </p:nvSpPr>
        <p:spPr>
          <a:xfrm>
            <a:off x="355600" y="5463515"/>
            <a:ext cx="3241040" cy="43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1"/>
            <a:r>
              <a:rPr lang="en-US" sz="1000" baseline="30000" dirty="0"/>
              <a:t>1</a:t>
            </a:r>
            <a:r>
              <a:rPr lang="en-US" sz="1000" dirty="0"/>
              <a:t> Dynamic stability: predicted T/F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0B1D41-188B-E055-A3C8-3FFBCEEB27A0}"/>
              </a:ext>
            </a:extLst>
          </p:cNvPr>
          <p:cNvSpPr txBox="1"/>
          <p:nvPr/>
        </p:nvSpPr>
        <p:spPr>
          <a:xfrm>
            <a:off x="3342640" y="5463515"/>
            <a:ext cx="3881120" cy="12319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1"/>
            <a:r>
              <a:rPr lang="en-US" sz="1000" baseline="30000" dirty="0"/>
              <a:t>2</a:t>
            </a:r>
            <a:r>
              <a:rPr lang="en-US" sz="1000" dirty="0"/>
              <a:t> Thresholds for Binding Energy: </a:t>
            </a:r>
          </a:p>
          <a:p>
            <a:pPr lvl="2"/>
            <a:r>
              <a:rPr lang="en-US" sz="800" dirty="0"/>
              <a:t>≤ -3.0 eV - highly stable </a:t>
            </a:r>
          </a:p>
          <a:p>
            <a:pPr lvl="2"/>
            <a:r>
              <a:rPr lang="en-US" sz="800" dirty="0"/>
              <a:t>-3.0 to 0 eV - stable</a:t>
            </a:r>
          </a:p>
          <a:p>
            <a:pPr marL="1085850" lvl="2" indent="-171450">
              <a:buFont typeface="Wingdings" panose="05000000000000000000" pitchFamily="2" charset="2"/>
              <a:buChar char="Ø"/>
            </a:pPr>
            <a:r>
              <a:rPr lang="en-US" sz="800" dirty="0"/>
              <a:t>0 eV - unstable</a:t>
            </a:r>
            <a:endParaRPr lang="en-US" sz="800" dirty="0">
              <a:highlight>
                <a:srgbClr val="FFFF00"/>
              </a:highlight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H. Guo and S. Lee. J. Mater. Chem. A, 13:22730–22744, 2025.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R. Jones and J. Coutinho. In Cor Claeys and Eddy Simoen, editors, Germanium-Based Technologies, pages 187–210. Elsevier, Oxford, 2007.</a:t>
            </a:r>
            <a:endParaRPr lang="en-US" sz="800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580C88-9A6A-0FFA-B23B-45B43CDF5B5E}"/>
              </a:ext>
            </a:extLst>
          </p:cNvPr>
          <p:cNvSpPr txBox="1"/>
          <p:nvPr/>
        </p:nvSpPr>
        <p:spPr>
          <a:xfrm>
            <a:off x="7345680" y="5482487"/>
            <a:ext cx="4592320" cy="11022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1"/>
            <a:r>
              <a:rPr lang="en-US" sz="1000" baseline="30000" dirty="0"/>
              <a:t>3</a:t>
            </a:r>
            <a:r>
              <a:rPr lang="en-US" sz="1000" dirty="0"/>
              <a:t> Thresholds for Heat of Formation:</a:t>
            </a:r>
          </a:p>
          <a:p>
            <a:pPr lvl="2"/>
            <a:r>
              <a:rPr lang="en-US" sz="800" dirty="0"/>
              <a:t> ≤ -1.0 eV/atom - highly stable</a:t>
            </a:r>
          </a:p>
          <a:p>
            <a:pPr lvl="2"/>
            <a:r>
              <a:rPr lang="en-US" sz="800" dirty="0"/>
              <a:t>-1.0 to 0 eV/atom - stable</a:t>
            </a:r>
          </a:p>
          <a:p>
            <a:pPr lvl="2"/>
            <a:r>
              <a:rPr lang="en-US" sz="800" dirty="0"/>
              <a:t> &gt; 0 eV/atom - unstable</a:t>
            </a:r>
            <a:endParaRPr lang="en-US" sz="800" dirty="0">
              <a:highlight>
                <a:srgbClr val="FFFF00"/>
              </a:highlight>
            </a:endParaRPr>
          </a:p>
          <a:p>
            <a:pPr lvl="2"/>
            <a:endParaRPr lang="en-US" sz="800" dirty="0">
              <a:highlight>
                <a:srgbClr val="FFFF00"/>
              </a:highlight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J. Park et al. Phys. Chem. Chem. Phys., 26:10769–10783, 2024.</a:t>
            </a:r>
            <a:endParaRPr lang="en-US" sz="8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382066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96B3D-92A6-34B2-215D-79B07EA1E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41936-D428-D05B-449F-4C1119CEF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of Generated MXenes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27706-B2EF-C0A7-9CD7-B1FF567B0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91.2% of generated MXenes (11,954,811) predicted to be dynamically stable</a:t>
            </a:r>
            <a:r>
              <a:rPr lang="en-US" baseline="30000" dirty="0"/>
              <a:t>1</a:t>
            </a:r>
            <a:r>
              <a:rPr lang="en-US" dirty="0"/>
              <a:t> </a:t>
            </a:r>
          </a:p>
          <a:p>
            <a:r>
              <a:rPr lang="en-US" dirty="0"/>
              <a:t>98.8% of MXenes (12,943,783) predicted to be highly stable by binding energy</a:t>
            </a:r>
            <a:r>
              <a:rPr lang="en-US" baseline="30000" dirty="0"/>
              <a:t>2</a:t>
            </a:r>
          </a:p>
          <a:p>
            <a:r>
              <a:rPr lang="en-US" dirty="0"/>
              <a:t>92.2% of MXenes (12,091,811) predicted to be stable or highly stable by HoF</a:t>
            </a:r>
            <a:r>
              <a:rPr lang="en-US" baseline="30000" dirty="0"/>
              <a:t>3</a:t>
            </a:r>
          </a:p>
          <a:p>
            <a:r>
              <a:rPr lang="en-US" dirty="0"/>
              <a:t>Out of our 13,104,254 generated MXenes, 84.3% of these (11,050359) are predicted to be stable across all 3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68DEF-F452-3E16-554A-D50D9642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01C25F-CBAB-DF02-2EF7-5B4AFB933309}"/>
              </a:ext>
            </a:extLst>
          </p:cNvPr>
          <p:cNvSpPr txBox="1"/>
          <p:nvPr/>
        </p:nvSpPr>
        <p:spPr>
          <a:xfrm>
            <a:off x="355600" y="5463515"/>
            <a:ext cx="3241040" cy="43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1"/>
            <a:r>
              <a:rPr lang="en-US" sz="1000" baseline="30000" dirty="0"/>
              <a:t>1</a:t>
            </a:r>
            <a:r>
              <a:rPr lang="en-US" sz="1000" dirty="0"/>
              <a:t> Dynamic stability: predicted T/F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FE78F6-C744-96B6-045B-9E661AEF7BC1}"/>
              </a:ext>
            </a:extLst>
          </p:cNvPr>
          <p:cNvSpPr txBox="1"/>
          <p:nvPr/>
        </p:nvSpPr>
        <p:spPr>
          <a:xfrm>
            <a:off x="3342640" y="5463515"/>
            <a:ext cx="3881120" cy="12319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1"/>
            <a:r>
              <a:rPr lang="en-US" sz="1000" baseline="30000" dirty="0"/>
              <a:t>2</a:t>
            </a:r>
            <a:r>
              <a:rPr lang="en-US" sz="1000" dirty="0"/>
              <a:t> Thresholds for Binding Energy: </a:t>
            </a:r>
          </a:p>
          <a:p>
            <a:pPr lvl="2"/>
            <a:r>
              <a:rPr lang="en-US" sz="800" dirty="0"/>
              <a:t>≤ -3.0 eV - highly stable </a:t>
            </a:r>
          </a:p>
          <a:p>
            <a:pPr lvl="2"/>
            <a:r>
              <a:rPr lang="en-US" sz="800" dirty="0"/>
              <a:t>-3.0 to 0 eV - stable</a:t>
            </a:r>
          </a:p>
          <a:p>
            <a:pPr marL="1085850" lvl="2" indent="-171450">
              <a:buFont typeface="Wingdings" panose="05000000000000000000" pitchFamily="2" charset="2"/>
              <a:buChar char="Ø"/>
            </a:pPr>
            <a:r>
              <a:rPr lang="en-US" sz="800" dirty="0"/>
              <a:t>0 eV - unstable</a:t>
            </a:r>
            <a:endParaRPr lang="en-US" sz="800" dirty="0">
              <a:highlight>
                <a:srgbClr val="FFFF00"/>
              </a:highlight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H. Guo and S. Lee. J. Mater. Chem. A, 13:22730–22744, 2025.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R. Jones and J. Coutinho. In Cor Claeys and Eddy Simoen, editors, Germanium-Based Technologies, pages 187–210. Elsevier, Oxford, 2007.</a:t>
            </a:r>
            <a:endParaRPr lang="en-US" sz="800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E6BCE6-D1B7-2687-384E-AFF169D17B26}"/>
              </a:ext>
            </a:extLst>
          </p:cNvPr>
          <p:cNvSpPr txBox="1"/>
          <p:nvPr/>
        </p:nvSpPr>
        <p:spPr>
          <a:xfrm>
            <a:off x="7345680" y="5482487"/>
            <a:ext cx="4592320" cy="11022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1"/>
            <a:r>
              <a:rPr lang="en-US" sz="1000" baseline="30000" dirty="0"/>
              <a:t>3</a:t>
            </a:r>
            <a:r>
              <a:rPr lang="en-US" sz="1000" dirty="0"/>
              <a:t> Thresholds for Heat of Formation:</a:t>
            </a:r>
          </a:p>
          <a:p>
            <a:pPr lvl="2"/>
            <a:r>
              <a:rPr lang="en-US" sz="800" dirty="0"/>
              <a:t> ≤ -1.0 eV/atom - highly stable</a:t>
            </a:r>
          </a:p>
          <a:p>
            <a:pPr lvl="2"/>
            <a:r>
              <a:rPr lang="en-US" sz="800" dirty="0"/>
              <a:t>-1.0 to 0 eV/atom - stable</a:t>
            </a:r>
          </a:p>
          <a:p>
            <a:pPr lvl="2"/>
            <a:r>
              <a:rPr lang="en-US" sz="800" dirty="0"/>
              <a:t> &gt; 0 eV/atom - unstable</a:t>
            </a:r>
            <a:endParaRPr lang="en-US" sz="800" dirty="0">
              <a:highlight>
                <a:srgbClr val="FFFF00"/>
              </a:highlight>
            </a:endParaRPr>
          </a:p>
          <a:p>
            <a:pPr lvl="2"/>
            <a:endParaRPr lang="en-US" sz="800" dirty="0">
              <a:highlight>
                <a:srgbClr val="FFFF00"/>
              </a:highlight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J. Park et al. Phys. Chem. Chem. Phys., 26:10769–10783, 2024.</a:t>
            </a:r>
            <a:endParaRPr lang="en-US" sz="8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570396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C2FF4-9B59-96CE-9127-BA9BE2D6A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C7947-15AB-C052-6A05-2EDE8EC71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2E160-037C-7F25-3D95-E63815EEF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pipeline to perform high-throughput MXene property predictions with greater accuracy and computationally cheaper inputs than current ML methods</a:t>
            </a:r>
          </a:p>
          <a:p>
            <a:r>
              <a:rPr lang="en-US" dirty="0"/>
              <a:t>Takes ~1 second to calculate a target property for one MXene</a:t>
            </a:r>
          </a:p>
          <a:p>
            <a:pPr lvl="1"/>
            <a:r>
              <a:rPr lang="en-US" b="1" dirty="0"/>
              <a:t>~50,000x faster than DFT</a:t>
            </a:r>
            <a:endParaRPr lang="en-US" dirty="0"/>
          </a:p>
          <a:p>
            <a:r>
              <a:rPr lang="en-US" dirty="0"/>
              <a:t>We predict MXene target properties for 13.6 million unique MXenes</a:t>
            </a:r>
          </a:p>
          <a:p>
            <a:r>
              <a:rPr lang="en-US" b="1" dirty="0"/>
              <a:t>To our knowledge, this is the largest publicly-available dataset of MXenes properties to date</a:t>
            </a:r>
          </a:p>
          <a:p>
            <a:pPr lvl="1"/>
            <a:r>
              <a:rPr lang="en-US" dirty="0"/>
              <a:t>Most extreme predictions found here: </a:t>
            </a:r>
            <a:r>
              <a:rPr lang="en-US" dirty="0">
                <a:hlinkClick r:id="rId2"/>
              </a:rPr>
              <a:t>https://github.com/EricWarnemundeVertina/Deep-Learning-Methods-for-High-Throughput-MXene-Property-Predictions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78EC4-0F7B-E79E-0120-B78F7195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4728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9AA82-B8FD-4942-9480-70615B0D5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</p:spPr>
        <p:txBody>
          <a:bodyPr anchor="b">
            <a:normAutofit/>
          </a:bodyPr>
          <a:lstStyle/>
          <a:p>
            <a:r>
              <a:rPr lang="en-US" dirty="0"/>
              <a:t>MXene discovery workflow</a:t>
            </a:r>
          </a:p>
        </p:txBody>
      </p:sp>
      <p:pic>
        <p:nvPicPr>
          <p:cNvPr id="6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2E9EDDA0-5B21-4F71-8519-40240BFBD2F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24238" y="1676400"/>
            <a:ext cx="4860324" cy="4495800"/>
          </a:xfrm>
          <a:noFill/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C9D79E02-41B7-4A60-BE13-4BA012391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05600" y="1676400"/>
            <a:ext cx="4876800" cy="449580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This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D6E6D-4308-4317-8564-6608B26B2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387664"/>
            <a:ext cx="609600" cy="39413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63B0023-0CED-47F7-85AE-654F0B232C29}" type="slidenum">
              <a:rPr lang="en-US" smtClean="0"/>
              <a:pPr>
                <a:spcAft>
                  <a:spcPts val="600"/>
                </a:spcAft>
              </a:pPr>
              <a:t>38</a:t>
            </a:fld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85573E9-88B5-0B14-735E-DC9F5F83D15C}"/>
              </a:ext>
            </a:extLst>
          </p:cNvPr>
          <p:cNvCxnSpPr>
            <a:cxnSpLocks/>
          </p:cNvCxnSpPr>
          <p:nvPr/>
        </p:nvCxnSpPr>
        <p:spPr>
          <a:xfrm flipH="1">
            <a:off x="5712669" y="2519916"/>
            <a:ext cx="1241024" cy="1086884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412DC6-9DBE-AE96-2921-14CAA44C512F}"/>
              </a:ext>
            </a:extLst>
          </p:cNvPr>
          <p:cNvSpPr txBox="1"/>
          <p:nvPr/>
        </p:nvSpPr>
        <p:spPr>
          <a:xfrm>
            <a:off x="3241040" y="1419131"/>
            <a:ext cx="721360" cy="4165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600" dirty="0"/>
              <a:t>(1)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BB03CE-2DDF-5328-40FD-D235D2ED9F9B}"/>
              </a:ext>
            </a:extLst>
          </p:cNvPr>
          <p:cNvSpPr txBox="1"/>
          <p:nvPr/>
        </p:nvSpPr>
        <p:spPr>
          <a:xfrm>
            <a:off x="5573721" y="3820160"/>
            <a:ext cx="721360" cy="4165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600" dirty="0"/>
              <a:t>(2)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A6E454-1FFF-65EC-9A1E-223207177837}"/>
              </a:ext>
            </a:extLst>
          </p:cNvPr>
          <p:cNvSpPr txBox="1"/>
          <p:nvPr/>
        </p:nvSpPr>
        <p:spPr>
          <a:xfrm>
            <a:off x="792480" y="3802380"/>
            <a:ext cx="721360" cy="4165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600" dirty="0"/>
              <a:t>(4)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8E3C3B-3817-16DF-34B0-B2C59B3BBDF0}"/>
              </a:ext>
            </a:extLst>
          </p:cNvPr>
          <p:cNvSpPr txBox="1"/>
          <p:nvPr/>
        </p:nvSpPr>
        <p:spPr>
          <a:xfrm>
            <a:off x="3241040" y="6090073"/>
            <a:ext cx="721360" cy="4165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600" dirty="0"/>
              <a:t>(3)</a:t>
            </a:r>
          </a:p>
        </p:txBody>
      </p:sp>
    </p:spTree>
    <p:extLst>
      <p:ext uri="{BB962C8B-B14F-4D97-AF65-F5344CB8AC3E}">
        <p14:creationId xmlns:p14="http://schemas.microsoft.com/office/powerpoint/2010/main" val="2203181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D2853-2797-FBA0-4D8C-15822D19B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DEC7C-3300-106B-DCE7-A363AEDAE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 would like to thank:</a:t>
            </a:r>
          </a:p>
          <a:p>
            <a:pPr lvl="1"/>
            <a:r>
              <a:rPr lang="en-US" dirty="0"/>
              <a:t>Professor Oren Mangoubi, my advisor</a:t>
            </a:r>
          </a:p>
          <a:p>
            <a:pPr lvl="1"/>
            <a:r>
              <a:rPr lang="en-US" dirty="0"/>
              <a:t>Dr. Emily Sutherland, former WPI Physics PhD student</a:t>
            </a:r>
          </a:p>
          <a:p>
            <a:pPr lvl="1"/>
            <a:r>
              <a:rPr lang="en-US" dirty="0"/>
              <a:t>Dr. Sajal Chakroborty, WPI Post-Doctoral Scholar</a:t>
            </a:r>
          </a:p>
          <a:p>
            <a:pPr lvl="1"/>
            <a:r>
              <a:rPr lang="en-US" dirty="0"/>
              <a:t>Professor N. Aaron Deskins, WPI Chemical Engineering</a:t>
            </a:r>
          </a:p>
          <a:p>
            <a:pPr lvl="1"/>
            <a:r>
              <a:rPr lang="en-US" dirty="0"/>
              <a:t>Professor Elke Rundensteiner, WPI Data Science and CEDAR project director</a:t>
            </a:r>
          </a:p>
          <a:p>
            <a:pPr lvl="1"/>
            <a:r>
              <a:rPr lang="en-US" dirty="0"/>
              <a:t>Professor Randy </a:t>
            </a:r>
            <a:r>
              <a:rPr lang="en-US" dirty="0" err="1"/>
              <a:t>Paffenroth</a:t>
            </a:r>
            <a:r>
              <a:rPr lang="en-US" dirty="0"/>
              <a:t>, WPI Data Science</a:t>
            </a:r>
          </a:p>
          <a:p>
            <a:pPr lvl="1"/>
            <a:r>
              <a:rPr lang="en-US" dirty="0"/>
              <a:t>Professor Lyubov Titova, WPI Physics</a:t>
            </a:r>
          </a:p>
          <a:p>
            <a:r>
              <a:rPr lang="en-US" dirty="0"/>
              <a:t>This research was supported in part by the NSF under grant NRT-HDR-2021871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7FD71-8331-F6D5-0F47-255F8A8E1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222A60-623D-8304-1367-3A4EF915DF3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13" b="-1"/>
          <a:stretch/>
        </p:blipFill>
        <p:spPr>
          <a:xfrm>
            <a:off x="927362" y="5814632"/>
            <a:ext cx="4906060" cy="9848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35E473-94CD-2683-C483-CA3CB4CBD1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911" y="5275521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341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61943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FA25C-120E-3031-E4D7-20C72AB22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MXene</a:t>
            </a:r>
            <a:r>
              <a:rPr lang="en-US" dirty="0"/>
              <a:t> Molecular Graph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D7D7D-D66D-A735-906C-A35F6A642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2050" name="Picture 1">
            <a:extLst>
              <a:ext uri="{FF2B5EF4-FFF2-40B4-BE49-F238E27FC236}">
                <a16:creationId xmlns:a16="http://schemas.microsoft.com/office/drawing/2014/main" id="{024288F1-4670-C877-FDB1-5253EF3083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441" y="1524000"/>
            <a:ext cx="7350414" cy="4603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61239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0F397-67EF-F6EA-78BB-1A25F3BA8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 vs Tabular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A38A7-0A39-8419-F847-9699FBC66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Existing ML methods for </a:t>
            </a:r>
            <a:r>
              <a:rPr lang="en-US" dirty="0" err="1"/>
              <a:t>MXene</a:t>
            </a:r>
            <a:r>
              <a:rPr lang="en-US" dirty="0"/>
              <a:t> property prediction require tabular data – not molecular graph data</a:t>
            </a:r>
          </a:p>
          <a:p>
            <a:r>
              <a:rPr lang="en-US" dirty="0"/>
              <a:t>Graphs allow more efficient information representation than tabular data</a:t>
            </a:r>
          </a:p>
          <a:p>
            <a:pPr lvl="1"/>
            <a:r>
              <a:rPr lang="en-US" dirty="0"/>
              <a:t>Encode important structural information not captured by tabular data</a:t>
            </a:r>
          </a:p>
          <a:p>
            <a:r>
              <a:rPr lang="en-US" dirty="0"/>
              <a:t>Graph Neural Networks (GNNs) </a:t>
            </a:r>
          </a:p>
          <a:p>
            <a:pPr lvl="1"/>
            <a:r>
              <a:rPr lang="en-US" dirty="0"/>
              <a:t>Type of neural network which takes graph data as input </a:t>
            </a:r>
          </a:p>
          <a:p>
            <a:pPr lvl="1"/>
            <a:r>
              <a:rPr lang="en-US" dirty="0"/>
              <a:t>Offer a flexible, tunable architecture for material property prediction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E9280-78DB-97CB-08DA-3F9542BFB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57ABBA-04D5-103A-E56F-24AE890F033B}"/>
              </a:ext>
            </a:extLst>
          </p:cNvPr>
          <p:cNvSpPr txBox="1"/>
          <p:nvPr/>
        </p:nvSpPr>
        <p:spPr>
          <a:xfrm>
            <a:off x="457199" y="5599135"/>
            <a:ext cx="6068291" cy="3941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fr-FR" sz="1600" dirty="0"/>
              <a:t>P. Reiser et al. </a:t>
            </a:r>
            <a:r>
              <a:rPr lang="fr-FR" sz="1600" i="1" dirty="0"/>
              <a:t>Commun Mater</a:t>
            </a:r>
            <a:r>
              <a:rPr lang="fr-FR" sz="1600" dirty="0"/>
              <a:t> </a:t>
            </a:r>
            <a:r>
              <a:rPr lang="fr-FR" sz="1600" b="1" dirty="0"/>
              <a:t>3</a:t>
            </a:r>
            <a:r>
              <a:rPr lang="fr-FR" sz="1600" dirty="0"/>
              <a:t>, 93 (2022).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4ECE6B-E0C1-06F4-1F4A-70E60CCF85F8}"/>
              </a:ext>
            </a:extLst>
          </p:cNvPr>
          <p:cNvSpPr txBox="1"/>
          <p:nvPr/>
        </p:nvSpPr>
        <p:spPr>
          <a:xfrm>
            <a:off x="784737" y="5971668"/>
            <a:ext cx="6902581" cy="5663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sz="1600" dirty="0"/>
              <a:t>Y. Zhu, Y. Xu, Q. Liu, and S. Wu.  </a:t>
            </a:r>
            <a:r>
              <a:rPr lang="en-US" sz="1600" dirty="0">
                <a:hlinkClick r:id="rId2"/>
              </a:rPr>
              <a:t>arXiv:2109.01116</a:t>
            </a:r>
            <a:r>
              <a:rPr lang="en-US" sz="1600" dirty="0"/>
              <a:t>, 2021.</a:t>
            </a:r>
          </a:p>
          <a:p>
            <a:pPr algn="ctr"/>
            <a:endParaRPr lang="en-US" sz="1600" dirty="0" err="1"/>
          </a:p>
        </p:txBody>
      </p:sp>
    </p:spTree>
    <p:extLst>
      <p:ext uri="{BB962C8B-B14F-4D97-AF65-F5344CB8AC3E}">
        <p14:creationId xmlns:p14="http://schemas.microsoft.com/office/powerpoint/2010/main" val="16790293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5D02A-8FC6-029F-868D-24FAE2322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</a:t>
            </a:r>
            <a:r>
              <a:rPr lang="en-US" dirty="0" err="1"/>
              <a:t>MXene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A0583-2306-4CDF-B3DD-AD0EF0D45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BCF30-B8E4-9CAA-2148-ABB20B252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43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250EF3-FE03-60B3-0AEF-5683B070C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03" y="1828576"/>
            <a:ext cx="10707594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9026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5e1d76e6ed25a0b9acc172e1212e12c5ea2ecb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PI-White">
  <a:themeElements>
    <a:clrScheme name="Custom 56">
      <a:dk1>
        <a:sysClr val="windowText" lastClr="000000"/>
      </a:dk1>
      <a:lt1>
        <a:sysClr val="window" lastClr="FFFFFF"/>
      </a:lt1>
      <a:dk2>
        <a:srgbClr val="6D6D6D"/>
      </a:dk2>
      <a:lt2>
        <a:srgbClr val="AB192D"/>
      </a:lt2>
      <a:accent1>
        <a:srgbClr val="AB192D"/>
      </a:accent1>
      <a:accent2>
        <a:srgbClr val="B2B7BB"/>
      </a:accent2>
      <a:accent3>
        <a:srgbClr val="2C6A8C"/>
      </a:accent3>
      <a:accent4>
        <a:srgbClr val="B7A079"/>
      </a:accent4>
      <a:accent5>
        <a:srgbClr val="46A0DC"/>
      </a:accent5>
      <a:accent6>
        <a:srgbClr val="6D6D6D"/>
      </a:accent6>
      <a:hlink>
        <a:srgbClr val="46A0DC"/>
      </a:hlink>
      <a:folHlink>
        <a:srgbClr val="808DA9"/>
      </a:folHlink>
    </a:clrScheme>
    <a:fontScheme name="Verdana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>
    <a:spDef>
      <a:spPr bwMode="auto">
        <a:solidFill>
          <a:schemeClr val="accent2"/>
        </a:solidFill>
        <a:ln w="12700" cap="sq" algn="ctr">
          <a:solidFill>
            <a:schemeClr val="tx2"/>
          </a:solidFill>
          <a:miter lim="800000"/>
          <a:headEnd/>
          <a:tailEnd/>
        </a:ln>
        <a:effectLst/>
      </a:spPr>
      <a:bodyPr wrap="none" anchor="ctr"/>
      <a:lstStyle>
        <a:defPPr algn="ctr">
          <a:defRPr sz="1600" dirty="0" smtClean="0">
            <a:solidFill>
              <a:schemeClr val="bg1"/>
            </a:solidFill>
            <a:latin typeface="+mn-lt"/>
          </a:defRPr>
        </a:defPPr>
      </a:lstStyle>
    </a:spDef>
    <a:txDef>
      <a:spPr>
        <a:noFill/>
      </a:spPr>
      <a:bodyPr wrap="none" rtlCol="0">
        <a:noAutofit/>
      </a:bodyPr>
      <a:lstStyle>
        <a:defPPr algn="ctr">
          <a:defRPr sz="16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WPI_Gray">
  <a:themeElements>
    <a:clrScheme name="Custom 57">
      <a:dk1>
        <a:srgbClr val="FFFFFF"/>
      </a:dk1>
      <a:lt1>
        <a:srgbClr val="6D6D6D"/>
      </a:lt1>
      <a:dk2>
        <a:srgbClr val="000000"/>
      </a:dk2>
      <a:lt2>
        <a:srgbClr val="FFFFFF"/>
      </a:lt2>
      <a:accent1>
        <a:srgbClr val="AB192D"/>
      </a:accent1>
      <a:accent2>
        <a:srgbClr val="B2B7BB"/>
      </a:accent2>
      <a:accent3>
        <a:srgbClr val="2C6A8C"/>
      </a:accent3>
      <a:accent4>
        <a:srgbClr val="B7A079"/>
      </a:accent4>
      <a:accent5>
        <a:srgbClr val="46A0DC"/>
      </a:accent5>
      <a:accent6>
        <a:srgbClr val="D9CD95"/>
      </a:accent6>
      <a:hlink>
        <a:srgbClr val="46A0DC"/>
      </a:hlink>
      <a:folHlink>
        <a:srgbClr val="808DA9"/>
      </a:folHlink>
    </a:clrScheme>
    <a:fontScheme name="Verdana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>
    <a:spDef>
      <a:spPr bwMode="auto">
        <a:solidFill>
          <a:schemeClr val="accent2">
            <a:lumMod val="40000"/>
            <a:lumOff val="60000"/>
          </a:schemeClr>
        </a:solidFill>
        <a:ln w="12700" cap="sq" algn="ctr">
          <a:solidFill>
            <a:schemeClr val="tx1"/>
          </a:solidFill>
          <a:miter lim="800000"/>
          <a:headEnd/>
          <a:tailEnd/>
        </a:ln>
        <a:effectLst/>
      </a:spPr>
      <a:bodyPr wrap="none" rtlCol="0" anchor="ctr"/>
      <a:lstStyle>
        <a:defPPr algn="ctr">
          <a:defRPr sz="1600" dirty="0" smtClean="0">
            <a:solidFill>
              <a:schemeClr val="bg1"/>
            </a:solidFill>
            <a:latin typeface="+mn-lt"/>
          </a:defRPr>
        </a:defPPr>
      </a:lstStyle>
    </a:spDef>
    <a:lnDef>
      <a:spPr bwMode="auto">
        <a:solidFill>
          <a:schemeClr val="accent2"/>
        </a:solidFill>
        <a:ln w="19050" cap="sq" cmpd="sng" algn="ctr">
          <a:solidFill>
            <a:schemeClr val="tx1"/>
          </a:solidFill>
          <a:prstDash val="solid"/>
          <a:round/>
          <a:headEnd type="triangle" w="med" len="med"/>
          <a:tailEnd type="triangl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 algn="ctr">
          <a:defRPr sz="160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WPI_2012Multi</Template>
  <TotalTime>52849</TotalTime>
  <Words>2218</Words>
  <Application>Microsoft Office PowerPoint</Application>
  <PresentationFormat>Widescreen</PresentationFormat>
  <Paragraphs>340</Paragraphs>
  <Slides>43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Arial</vt:lpstr>
      <vt:lpstr>Calibri</vt:lpstr>
      <vt:lpstr>Courier New</vt:lpstr>
      <vt:lpstr>Times New Roman</vt:lpstr>
      <vt:lpstr>Verdana</vt:lpstr>
      <vt:lpstr>Wingdings</vt:lpstr>
      <vt:lpstr>WPI-White</vt:lpstr>
      <vt:lpstr>WPI_Gray</vt:lpstr>
      <vt:lpstr>PowerPoint Presentation</vt:lpstr>
      <vt:lpstr>Why do we need ML/DL methods?</vt:lpstr>
      <vt:lpstr>Why do we need ML/DL methods?</vt:lpstr>
      <vt:lpstr>Why do we need ML/DL methods?</vt:lpstr>
      <vt:lpstr>Why do we need ML/DL methods?</vt:lpstr>
      <vt:lpstr>Why do we need ML/DL methods?</vt:lpstr>
      <vt:lpstr>Our contributions</vt:lpstr>
      <vt:lpstr>Our contributions</vt:lpstr>
      <vt:lpstr>Our contributions</vt:lpstr>
      <vt:lpstr>Our contributions</vt:lpstr>
      <vt:lpstr>Our contributions</vt:lpstr>
      <vt:lpstr>Our contributions</vt:lpstr>
      <vt:lpstr>High-throughput MXene prediction pipeline</vt:lpstr>
      <vt:lpstr>High-throughput MXene prediction pipeline</vt:lpstr>
      <vt:lpstr>High-throughput MXene prediction pipeline</vt:lpstr>
      <vt:lpstr>“Desired” MXene Properties to predict</vt:lpstr>
      <vt:lpstr>“Desired” MXene Properties to predict</vt:lpstr>
      <vt:lpstr>“Desired” MXene Properties to predict</vt:lpstr>
      <vt:lpstr>M atoms</vt:lpstr>
      <vt:lpstr>X atoms</vt:lpstr>
      <vt:lpstr>Tx</vt:lpstr>
      <vt:lpstr>MXene Sample Space Enumeration</vt:lpstr>
      <vt:lpstr>Reducing this sample space</vt:lpstr>
      <vt:lpstr>Possible M Elements</vt:lpstr>
      <vt:lpstr>Possible X Elements</vt:lpstr>
      <vt:lpstr>Possible Tx</vt:lpstr>
      <vt:lpstr>Workflow</vt:lpstr>
      <vt:lpstr>Workflow</vt:lpstr>
      <vt:lpstr>Workflow</vt:lpstr>
      <vt:lpstr>PowerPoint Presentation</vt:lpstr>
      <vt:lpstr>PowerPoint Presentation</vt:lpstr>
      <vt:lpstr>Stability of Generated MXenes</vt:lpstr>
      <vt:lpstr>Stability of Generated MXenes</vt:lpstr>
      <vt:lpstr>Stability of Generated MXenes</vt:lpstr>
      <vt:lpstr>Stability of Generated MXenes</vt:lpstr>
      <vt:lpstr>Stability of Generated MXenes</vt:lpstr>
      <vt:lpstr>Our contributions</vt:lpstr>
      <vt:lpstr>MXene discovery workflow</vt:lpstr>
      <vt:lpstr>Acknowledgment</vt:lpstr>
      <vt:lpstr>PowerPoint Presentation</vt:lpstr>
      <vt:lpstr>MXene Molecular Graph</vt:lpstr>
      <vt:lpstr>Graphs vs Tabular Data</vt:lpstr>
      <vt:lpstr>Building a MXene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Title, Verdana Bold 40pt</dc:title>
  <dc:creator>Melissa</dc:creator>
  <cp:lastModifiedBy>Eric Vertina</cp:lastModifiedBy>
  <cp:revision>711</cp:revision>
  <dcterms:created xsi:type="dcterms:W3CDTF">2015-05-27T13:16:15Z</dcterms:created>
  <dcterms:modified xsi:type="dcterms:W3CDTF">2025-09-09T15:03:35Z</dcterms:modified>
</cp:coreProperties>
</file>